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66" r:id="rId14"/>
    <p:sldId id="267" r:id="rId15"/>
    <p:sldId id="268" r:id="rId16"/>
    <p:sldId id="271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85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AC10-002F-C724-456D-C2A66D6D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49832-6DA0-B421-AC11-CABF77663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6C0A9-1910-A1B0-3FD5-ED03783A8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FBAD0-C596-1AC7-9330-67C189E0C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6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2651760" cy="2651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9171" y="1103811"/>
            <a:ext cx="2272937" cy="2272937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88583" y="1293223"/>
            <a:ext cx="1894114" cy="189411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77994" y="1482634"/>
            <a:ext cx="1515291" cy="1515291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7406" y="1672046"/>
            <a:ext cx="1136469" cy="113646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56817" y="1861457"/>
            <a:ext cx="757646" cy="757646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46229" y="2050869"/>
            <a:ext cx="378823" cy="3788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HOW WE RAN PROJECT AIR WITH AI FROM DAY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CODE AS</a:t>
            </a:r>
            <a:endParaRPr lang="en-US" sz="52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</a:t>
            </a: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COMMAND CENTER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“Brand Brain” for the whole project, online from day one.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slides in this deck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29184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MCP integrations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576072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phases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JUN 9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22960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2026</a:t>
            </a:r>
            <a:endParaRPr lang="en-US" sz="950" dirty="0"/>
          </a:p>
        </p:txBody>
      </p:sp>
      <p:pic>
        <p:nvPicPr>
          <p:cNvPr id="20" name="Image 0" descr="/tmp/icons/ai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897880"/>
            <a:ext cx="841248" cy="5669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6492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8C8E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MISSION</a:t>
            </a:r>
            <a:endParaRPr lang="en-US" sz="1050" dirty="0"/>
          </a:p>
        </p:txBody>
      </p:sp>
      <p:pic>
        <p:nvPicPr>
          <p:cNvPr id="4" name="Image 0" descr="/tmp/icons/ai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224028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Make AI feel like a </a:t>
            </a:r>
            <a:r>
              <a:rPr lang="en-US" sz="35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festival</a:t>
            </a: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, not a tech conference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Event: AI Day, June 9, 2026, about 830 employees across 5 global locations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Vibe: SXSW meets Coachella. Warm, bold, festival energy, not a tech conference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0" y="297027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Five deliverables: animated logo, 24 speaker posters, PPT template, hats and wristbands, tiered swag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3796284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3691128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Creative team: a six-person crew, creative direction, design, copy, and production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114800" y="4517136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89120" y="4411980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Hard deadline: June 9, 2026, set by the program brief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0F3A38-FFC6-DCE2-4FFD-9267B444AA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AAECF7-F2D1-CABC-CB3C-96F304E0C00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3608D8-0BE0-6C4C-C97B-297A207CF4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STRUCTURE</a:t>
            </a:r>
            <a:endParaRPr lang="en-US" sz="1050" dirty="0"/>
          </a:p>
        </p:txBody>
      </p:sp>
      <p:pic>
        <p:nvPicPr>
          <p:cNvPr id="4" name="Image 0" descr="/tmp/icons/ai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224028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phases, </a:t>
            </a:r>
            <a:r>
              <a:rPr lang="en-US" sz="32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AI thread</a:t>
            </a:r>
            <a:r>
              <a:rPr lang="en-US" sz="32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through all of them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114800" y="2057400"/>
            <a:ext cx="233172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057400"/>
            <a:ext cx="91440" cy="15544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52544" y="21671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352544" y="28072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Brand Foundation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352544" y="3300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5 – 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775704" y="2057400"/>
            <a:ext cx="233172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75704" y="2057400"/>
            <a:ext cx="91440" cy="15544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13448" y="21671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013448" y="28072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Templates &amp; Systems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013448" y="3300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14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36608" y="2057400"/>
            <a:ext cx="233172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436608" y="2057400"/>
            <a:ext cx="91440" cy="15544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74352" y="21671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674352" y="28072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Production Sprint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674352" y="3300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0" y="3904488"/>
            <a:ext cx="233172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114800" y="3904488"/>
            <a:ext cx="91440" cy="15544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2544" y="40142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4352544" y="46542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Animation &amp; Polish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4352544" y="5148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27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775704" y="3904488"/>
            <a:ext cx="233172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775704" y="3904488"/>
            <a:ext cx="91440" cy="15544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013448" y="40142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05</a:t>
            </a:r>
            <a:endParaRPr lang="en-US" sz="3400" dirty="0"/>
          </a:p>
        </p:txBody>
      </p:sp>
      <p:sp>
        <p:nvSpPr>
          <p:cNvPr id="29" name="Text 26"/>
          <p:cNvSpPr/>
          <p:nvPr/>
        </p:nvSpPr>
        <p:spPr>
          <a:xfrm>
            <a:off x="7013448" y="46542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Print Handoff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7013448" y="5148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436608" y="3904488"/>
            <a:ext cx="233172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436608" y="3904488"/>
            <a:ext cx="91440" cy="15544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674352" y="40142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06</a:t>
            </a:r>
            <a:endParaRPr lang="en-US" sz="3400" dirty="0"/>
          </a:p>
        </p:txBody>
      </p:sp>
      <p:sp>
        <p:nvSpPr>
          <p:cNvPr id="34" name="Text 31"/>
          <p:cNvSpPr/>
          <p:nvPr/>
        </p:nvSpPr>
        <p:spPr>
          <a:xfrm>
            <a:off x="9674352" y="46542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Premium Swag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9674352" y="5148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EFC4FFF-EB10-EA45-3987-EDC0E46B35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THE ECOSYSTEM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—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MCP PLUGINS &amp; CONNECTIONS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2240280" cy="150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502920"/>
            <a:ext cx="7619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1A1614"/>
                </a:solidFill>
                <a:latin typeface="Fira Sans Extra Condensed"/>
              </a:rPr>
              <a:t>Everything orbits </a:t>
            </a:r>
            <a:r>
              <a:rPr sz="3400" b="1">
                <a:solidFill>
                  <a:srgbClr val="1E50EF"/>
                </a:solidFill>
                <a:latin typeface="Fira Sans Extra Condensed"/>
              </a:rPr>
              <a:t>one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73952"/>
            <a:ext cx="7711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A857E"/>
                </a:solidFill>
                <a:latin typeface="Fira Code"/>
              </a:rPr>
              <a:t>AI DAY   ·   JUNE 9, 2026   ·   BROOKHAVEN HQ + GLOBAL SITES   ·   THE WEATHER COMPANY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2176272"/>
            <a:ext cx="5394960" cy="3511296"/>
          </a:xfrm>
          <a:prstGeom prst="ellipse">
            <a:avLst/>
          </a:prstGeom>
          <a:noFill/>
          <a:ln w="15875">
            <a:solidFill>
              <a:srgbClr val="C9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8138160" y="2176272"/>
            <a:ext cx="0" cy="1755648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138160" y="2837291"/>
            <a:ext cx="2108974" cy="1094629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3931920"/>
            <a:ext cx="2629848" cy="390668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38160" y="3931920"/>
            <a:ext cx="1170392" cy="1581784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967767" y="3931920"/>
            <a:ext cx="1170393" cy="1581784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508311" y="3931920"/>
            <a:ext cx="2629849" cy="390668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6029185" y="2837291"/>
            <a:ext cx="2108975" cy="1094629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0" y="3337560"/>
            <a:ext cx="2377440" cy="1188720"/>
          </a:xfrm>
          <a:prstGeom prst="roundRect">
            <a:avLst>
              <a:gd name="adj" fmla="val 16000"/>
            </a:avLst>
          </a:prstGeom>
          <a:solidFill>
            <a:srgbClr val="1E5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3447288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0" y="384048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ira Sans Extra Condensed"/>
              </a:rPr>
              <a:t>GitHub repo</a:t>
            </a:r>
          </a:p>
          <a:p>
            <a:pPr algn="ctr"/>
            <a:r>
              <a:rPr sz="850">
                <a:solidFill>
                  <a:srgbClr val="2BE0C4"/>
                </a:solidFill>
                <a:latin typeface="Fira Code"/>
              </a:rPr>
              <a:t>single source of truth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1274" y="2425811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578" y="2631551"/>
            <a:ext cx="41148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67074" y="2471531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Slack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status, reveals,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2148" y="3911108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7AC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ebhoo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452" y="4116848"/>
            <a:ext cx="411480" cy="411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87948" y="3956828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Webhooks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auto status on each push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EA609E2-D271-C7EB-2379-35E2995AFCA8}"/>
              </a:ext>
            </a:extLst>
          </p:cNvPr>
          <p:cNvGrpSpPr/>
          <p:nvPr/>
        </p:nvGrpSpPr>
        <p:grpSpPr>
          <a:xfrm>
            <a:off x="8385088" y="5102224"/>
            <a:ext cx="2331720" cy="822960"/>
            <a:chOff x="8142692" y="5102224"/>
            <a:chExt cx="2331720" cy="822960"/>
          </a:xfrm>
        </p:grpSpPr>
        <p:sp>
          <p:nvSpPr>
            <p:cNvPr id="28" name="Rounded Rectangle 27"/>
            <p:cNvSpPr/>
            <p:nvPr/>
          </p:nvSpPr>
          <p:spPr>
            <a:xfrm>
              <a:off x="8142692" y="5102224"/>
              <a:ext cx="2331720" cy="82296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22225">
              <a:solidFill>
                <a:srgbClr val="C79B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288996" y="5534278"/>
              <a:ext cx="98755" cy="185166"/>
            </a:xfrm>
            <a:prstGeom prst="rect">
              <a:avLst/>
            </a:prstGeom>
            <a:solidFill>
              <a:srgbClr val="C79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420670" y="5423178"/>
              <a:ext cx="98755" cy="296265"/>
            </a:xfrm>
            <a:prstGeom prst="rect">
              <a:avLst/>
            </a:prstGeom>
            <a:solidFill>
              <a:srgbClr val="C79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552343" y="5307964"/>
              <a:ext cx="98755" cy="411480"/>
            </a:xfrm>
            <a:prstGeom prst="rect">
              <a:avLst/>
            </a:prstGeom>
            <a:solidFill>
              <a:srgbClr val="C79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828492" y="5147944"/>
              <a:ext cx="1554479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1A1614"/>
                  </a:solidFill>
                  <a:latin typeface="Fira Sans Extra Condensed"/>
                </a:rPr>
                <a:t>AI Dashboard</a:t>
              </a:r>
            </a:p>
            <a:p>
              <a:pPr algn="l"/>
              <a:r>
                <a:rPr sz="750">
                  <a:solidFill>
                    <a:srgbClr val="8A857E"/>
                  </a:solidFill>
                  <a:latin typeface="Fira Code"/>
                </a:rPr>
                <a:t>the proof, shown live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5559512" y="5102224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1F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ig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816" y="5307964"/>
            <a:ext cx="411480" cy="4114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45312" y="5147944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1A1614"/>
                </a:solidFill>
                <a:latin typeface="Fira Sans Extra Condensed"/>
              </a:rPr>
              <a:t>Figma</a:t>
            </a:r>
          </a:p>
          <a:p>
            <a:pPr algn="l"/>
            <a:r>
              <a:rPr sz="750" dirty="0">
                <a:solidFill>
                  <a:srgbClr val="8A857E"/>
                </a:solidFill>
                <a:latin typeface="Fira Code"/>
              </a:rPr>
              <a:t>design library, </a:t>
            </a:r>
            <a:r>
              <a:rPr sz="750" dirty="0" err="1">
                <a:solidFill>
                  <a:srgbClr val="8A857E"/>
                </a:solidFill>
                <a:latin typeface="Fira Code"/>
              </a:rPr>
              <a:t>read+write</a:t>
            </a:r>
            <a:endParaRPr sz="750" dirty="0">
              <a:solidFill>
                <a:srgbClr val="8A857E"/>
              </a:solidFill>
              <a:latin typeface="Fira Code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42451" y="3911108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39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dr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8755" y="4116848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28251" y="3956828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Google Drive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assets + 21 headshots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3325" y="2425811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4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calen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9629" y="2631551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49125" y="2471531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Google Calendar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six meetings, one prompt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35FA996-ACF5-79C6-409A-E845949D277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C24EB5F-4359-ADCD-9384-FAD89C859283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197A004-6736-B091-93AF-023B64AE49E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65CCDE4-04F9-7E25-4C73-3B9E76044A1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6F9A6E7-1CD2-52CE-394F-7AA3946D7E95}"/>
              </a:ext>
            </a:extLst>
          </p:cNvPr>
          <p:cNvGrpSpPr/>
          <p:nvPr/>
        </p:nvGrpSpPr>
        <p:grpSpPr>
          <a:xfrm>
            <a:off x="6903720" y="1728216"/>
            <a:ext cx="2468880" cy="896112"/>
            <a:chOff x="6903720" y="1728216"/>
            <a:chExt cx="2468880" cy="896112"/>
          </a:xfrm>
        </p:grpSpPr>
        <p:sp>
          <p:nvSpPr>
            <p:cNvPr id="19" name="Rounded Rectangle 18"/>
            <p:cNvSpPr/>
            <p:nvPr/>
          </p:nvSpPr>
          <p:spPr>
            <a:xfrm>
              <a:off x="6903720" y="1728216"/>
              <a:ext cx="2468880" cy="896112"/>
            </a:xfrm>
            <a:prstGeom prst="roundRect">
              <a:avLst>
                <a:gd name="adj" fmla="val 16000"/>
              </a:avLst>
            </a:prstGeom>
            <a:solidFill>
              <a:srgbClr val="3A1E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0" name="Picture 19" descr="claud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68312" y="1952243"/>
              <a:ext cx="448056" cy="448056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644384" y="1773936"/>
              <a:ext cx="1636775" cy="8046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 dirty="0">
                  <a:solidFill>
                    <a:srgbClr val="FFFFFF"/>
                  </a:solidFill>
                  <a:latin typeface="Fira Sans Extra Condensed"/>
                </a:rPr>
                <a:t>Claude Code</a:t>
              </a:r>
            </a:p>
            <a:p>
              <a:pPr algn="l"/>
              <a:r>
                <a:rPr sz="800" dirty="0">
                  <a:solidFill>
                    <a:srgbClr val="2BE0C4"/>
                  </a:solidFill>
                  <a:latin typeface="Fira Code"/>
                </a:rPr>
                <a:t>the “Brand Brain” engine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FOUNDATION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GITHUB REPO</a:t>
            </a:r>
            <a:endParaRPr lang="en-US" sz="1050" dirty="0"/>
          </a:p>
        </p:txBody>
      </p:sp>
      <p:pic>
        <p:nvPicPr>
          <p:cNvPr id="4" name="Image 0" descr="/tmp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</a:t>
            </a:r>
            <a:r>
              <a:rPr lang="en-US" sz="36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repo</a:t>
            </a: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was the project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04825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Every document lived in GitHub: brief, phases, decisions, agendas, vendor specs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76910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read any file by raw URL: context from live source, never stale copies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14800" y="333527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0" y="3230118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Branching: main is approved, draft is in progress, review is ready for feedback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405612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3950970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captured every direction change, with the rationale preserved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114800" y="45171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89120" y="4411980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at workspace and project level: full context in seconds at every start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4A8D16-0FDF-0026-1DC5-03D379FE80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E07686-9917-E9FB-F5C9-8DB74F4107D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062CEEB-BEF5-41C4-6380-117B05D938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7CA01C-4D18-72C6-E9FC-4CA920D6837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1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CALENDAR MCP</a:t>
            </a:r>
            <a:endParaRPr lang="en-US" sz="1050" dirty="0"/>
          </a:p>
        </p:txBody>
      </p:sp>
      <p:pic>
        <p:nvPicPr>
          <p:cNvPr id="4" name="Image 0" descr="/tmp/icons/calend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team meetings created in </a:t>
            </a:r>
            <a:r>
              <a:rPr lang="en-US" sz="3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prompt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04825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Calendar MCP to Claude Code: calendar write access from the terminal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769108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All six project meetings from a single prompt: Meet links, attendees, and descriptions included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0" y="3489960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Pre-work notes, repo links, and agenda context embedded in each invite automatically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4210812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Zero copy-pasting or manual entry: invites sent with one confirmation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114800" y="4983480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4189A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“The whole thing takes about 2 minutes once the repo is set up.”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11480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docs/google-calendar-setup.md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518E59-724E-7BF7-2A80-A78AE0D488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532BBF-366E-F74A-D922-C1FEA4C0F5D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77C946-6D3D-6418-132D-AE411E91A5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BBD1AE-0751-C76C-68BF-86AB76BEF1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2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DRIVE MCP</a:t>
            </a:r>
            <a:endParaRPr lang="en-US" sz="1050" dirty="0"/>
          </a:p>
        </p:txBody>
      </p:sp>
      <p:pic>
        <p:nvPicPr>
          <p:cNvPr id="4" name="Image 0" descr="/tmp/icons/drive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Asset collection, </a:t>
            </a:r>
            <a:r>
              <a:rPr lang="en-US" sz="3600" b="1" dirty="0">
                <a:solidFill>
                  <a:srgbClr val="C2730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hands-free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C273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C273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Drive MCP with direct folder read and write from Claude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C273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Headshot submissions for 21 ambassadors and executives, organized by poster slot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C273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checked folder contents and flagged missing submissions without leaving the terminal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C273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assets, swag reference files, and brand exports all routed through Drive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869680" y="3246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2730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21</a:t>
            </a:r>
            <a:endParaRPr lang="en-US" sz="12000" dirty="0"/>
          </a:p>
        </p:txBody>
      </p:sp>
      <p:sp>
        <p:nvSpPr>
          <p:cNvPr id="16" name="Text 13"/>
          <p:cNvSpPr/>
          <p:nvPr/>
        </p:nvSpPr>
        <p:spPr>
          <a:xfrm>
            <a:off x="8887968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headshot submissions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887968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ambassadors + executives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47A466E-CF5D-4891-A7A3-C0D2BD2CE2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73D80F-9FC4-CCCC-5D17-906DF782DFE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B1AD83-1458-4390-796D-11401FAE30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B1F172-D9DA-0670-3427-D8494697DC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C8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3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SLACK</a:t>
            </a:r>
            <a:endParaRPr lang="en-US" sz="1050" dirty="0"/>
          </a:p>
        </p:txBody>
      </p:sp>
      <p:pic>
        <p:nvPicPr>
          <p:cNvPr id="4" name="Image 0" descr="/tmp/icons/sla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as the team’s </a:t>
            </a:r>
            <a:r>
              <a:rPr lang="en-US" sz="36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writer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C8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C8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04825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drafted all Slack communications: status updates, check-ins, headshot guide rails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C8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76910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reveal announcements formatted for internal channels, ready to send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14800" y="3335274"/>
            <a:ext cx="118872" cy="118872"/>
          </a:xfrm>
          <a:prstGeom prst="rect">
            <a:avLst/>
          </a:prstGeom>
          <a:solidFill>
            <a:srgbClr val="C8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0" y="3230118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“Ready to test” summaries after every change: what changed, how to verify, what to expect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4056126"/>
            <a:ext cx="118872" cy="118872"/>
          </a:xfrm>
          <a:prstGeom prst="rect">
            <a:avLst/>
          </a:prstGeom>
          <a:solidFill>
            <a:srgbClr val="C8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3950970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“Created with AI” dashboard updates posted to the project channel after each milestone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114800" y="4776978"/>
            <a:ext cx="118872" cy="118872"/>
          </a:xfrm>
          <a:prstGeom prst="rect">
            <a:avLst/>
          </a:prstGeom>
          <a:solidFill>
            <a:srgbClr val="C8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89120" y="4671822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Pattern: Claude drafts, Michael sends. The team always sees a human hand on the button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0A8415-81DB-07FB-22BA-6550690410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B3FC4D-16A3-7BF3-DBA4-9045ABC8485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DF2C3E-95EB-AE36-923E-C0DF6C9B1F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4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FIGMA MCP</a:t>
            </a:r>
            <a:endParaRPr lang="en-US" sz="1050" dirty="0"/>
          </a:p>
        </p:txBody>
      </p:sp>
      <p:pic>
        <p:nvPicPr>
          <p:cNvPr id="4" name="Image 0" descr="/tmp/icons/figm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Design files, </a:t>
            </a:r>
            <a:r>
              <a:rPr lang="en-US" sz="36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readable by AI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Figma MCP with Editor access: read and write, no viewer limits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inspected the component library and read color tokens and type styles directly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Verified logo production files: SVG, PDF, PNG @2x, WEBP @0.5x, AI source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Audited the library against brand guidelines and flagged inconsistencies in real time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8796528" y="3063240"/>
            <a:ext cx="2880360" cy="548640"/>
          </a:xfrm>
          <a:prstGeom prst="rect">
            <a:avLst/>
          </a:prstGeom>
          <a:solidFill>
            <a:srgbClr val="E7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796528" y="3063240"/>
            <a:ext cx="91440" cy="54864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15984" y="308152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Color tokens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796528" y="3739896"/>
            <a:ext cx="2880360" cy="548640"/>
          </a:xfrm>
          <a:prstGeom prst="rect">
            <a:avLst/>
          </a:prstGeom>
          <a:solidFill>
            <a:srgbClr val="E7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796528" y="3739896"/>
            <a:ext cx="91440" cy="54864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15984" y="375818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Type styles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796528" y="4416552"/>
            <a:ext cx="2880360" cy="548640"/>
          </a:xfrm>
          <a:prstGeom prst="rect">
            <a:avLst/>
          </a:prstGeom>
          <a:solidFill>
            <a:srgbClr val="E7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796528" y="4416552"/>
            <a:ext cx="91440" cy="54864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015984" y="44348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Logo variants ×4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796528" y="5093208"/>
            <a:ext cx="2880360" cy="548640"/>
          </a:xfrm>
          <a:prstGeom prst="rect">
            <a:avLst/>
          </a:prstGeom>
          <a:solidFill>
            <a:srgbClr val="E7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796528" y="5093208"/>
            <a:ext cx="91440" cy="54864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015984" y="5111496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Component library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EB8B13D-319B-6369-2092-C4A13AB9BD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E9EFF6-0490-1624-40BA-5913DC445C3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A1E2A20-288D-6365-61F9-CCC2FEFC11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6A8EB90-CAC9-232E-4C34-AB9ED34034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7AC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5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WEBHOOKS</a:t>
            </a:r>
            <a:endParaRPr lang="en-US" sz="1050" dirty="0"/>
          </a:p>
        </p:txBody>
      </p:sp>
      <p:pic>
        <p:nvPicPr>
          <p:cNvPr id="4" name="Image 0" descr="/tmp/icons/webhooks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Automated status on </a:t>
            </a:r>
            <a:r>
              <a:rPr lang="en-US" sz="36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every push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 on the GitHub repo triggered Slack notifications on key events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50926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Phase completions, logo approval, and vendor deadline updates auto-surfaced to the team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14800" y="333527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0" y="3230118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Atlas print deadline conflict (May 22 vs. May 25) flagged automatically when dates changed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405612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3950970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 manual check-in messages needed: the system surfaced the update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114800" y="484632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1F7D46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Conflict detection: the webhook fired when the Atlas deadline was edited. The team saw it before anyone had to say anything.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61E1D5-3772-ED76-C537-E6F2F8E9EE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A708C1-A5B5-D70F-B697-7FCF6C5858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E91C98-8E49-AD21-8943-A581BF640F0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07AC4EF-F516-0926-B0CC-694434521F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C79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6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DASHBOARD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2171700"/>
            <a:ext cx="329184" cy="61722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8992" y="1801368"/>
            <a:ext cx="329184" cy="987552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17904" y="1417320"/>
            <a:ext cx="329184" cy="137160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Showing our work, </a:t>
            </a:r>
            <a:r>
              <a:rPr lang="en-US" sz="3600" b="1" dirty="0">
                <a:solidFill>
                  <a:srgbClr val="7C3AED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live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04825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Brief commitment: “This conference is brought to you by AI. The creative should be too.”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769108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dashboard tracked every deliverable that used AI: the tool, its role, and the output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89960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Tools logged: Claude Code, Adobe Firefly, ElevenLabs, Gemini, Figma AI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4056126"/>
            <a:ext cx="118872" cy="118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950970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AI Photo Booth and AI Song documented as AI-first attendee experiences built for the event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114800" y="4776978"/>
            <a:ext cx="118872" cy="118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4671822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Not just a tracker, a proof point: the dashboard is the story told on AI Day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139A89-F394-D9A7-1EFC-937667DC69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3A60C0-C98E-DF7B-A845-2D2239E75FD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E97BB1-78A4-CF7F-2451-06180AF03E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172134-A6CE-E05A-E484-D28FE5BC6F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BB847-0FAA-B848-6FE6-82DC32C8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299097-9DA3-60A9-99F3-B0F071B055E7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C79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746557-0381-0D50-7156-8E40F6CFDB67}"/>
              </a:ext>
            </a:extLst>
          </p:cNvPr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6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DASHBOARD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715CA5-1044-5486-9EDD-355A3A38D50D}"/>
              </a:ext>
            </a:extLst>
          </p:cNvPr>
          <p:cNvSpPr/>
          <p:nvPr/>
        </p:nvSpPr>
        <p:spPr>
          <a:xfrm>
            <a:off x="640080" y="2171700"/>
            <a:ext cx="329184" cy="61722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DC62C12-BA8C-7210-E4AD-2AF4DB3CEB93}"/>
              </a:ext>
            </a:extLst>
          </p:cNvPr>
          <p:cNvSpPr/>
          <p:nvPr/>
        </p:nvSpPr>
        <p:spPr>
          <a:xfrm>
            <a:off x="1078992" y="1801368"/>
            <a:ext cx="329184" cy="987552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1E2452-63EE-ED55-BAF6-EB7E3F74060C}"/>
              </a:ext>
            </a:extLst>
          </p:cNvPr>
          <p:cNvSpPr/>
          <p:nvPr/>
        </p:nvSpPr>
        <p:spPr>
          <a:xfrm>
            <a:off x="1517904" y="1417320"/>
            <a:ext cx="329184" cy="137160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6915FF-DD9D-1FA5-4B3A-D156D55DA342}"/>
              </a:ext>
            </a:extLst>
          </p:cNvPr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Showing our work, </a:t>
            </a:r>
            <a:r>
              <a:rPr lang="en-US" sz="3600" b="1" dirty="0">
                <a:solidFill>
                  <a:srgbClr val="7C3AED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live</a:t>
            </a:r>
            <a:endParaRPr lang="en-US" sz="3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15BC707-D8DE-BAAF-3343-187DE993C914}"/>
              </a:ext>
            </a:extLst>
          </p:cNvPr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4F9090-E8A1-0E64-41CC-BA51FA1B0B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245DDC-B039-E754-3A8E-982730EA8C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998A475-4A81-2F3F-B0BC-D1347996ED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1988A4-4B70-E69C-E2AB-F751BE4E34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FDB851-0F64-286A-5451-9EB6E4B353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9645"/>
          <a:stretch>
            <a:fillRect/>
          </a:stretch>
        </p:blipFill>
        <p:spPr>
          <a:xfrm>
            <a:off x="3579605" y="-7335"/>
            <a:ext cx="8598950" cy="687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23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AI-FIRST PROCESS</a:t>
            </a:r>
            <a:endParaRPr lang="en-US" sz="1050" dirty="0"/>
          </a:p>
        </p:txBody>
      </p:sp>
      <p:pic>
        <p:nvPicPr>
          <p:cNvPr id="4" name="Image 0" descr="/tmp/icons/ai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224028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3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AI wasn’t a feature. It was the </a:t>
            </a:r>
            <a:r>
              <a:rPr lang="en-US" sz="33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workflow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3C2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CREATIVE WORK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Logo ideation: references and concept directions explored with AI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Brand guidelines: written and updated live in the repo, readable any time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comparisons: Superside vs. in-house, Atlas vs. alternatives, analyzed by Claude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3C2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PRODUCTION WORK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66760" y="2295144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Meeting summaries: May 18 session notes consolidated by Gemini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92440" y="3020568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66760" y="2915412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system: slot architecture designed with Claude code-gen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092440" y="3640836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66760" y="3535680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Copy: 20 prompt-card ideas generated by AI pre-meeting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92440" y="4261104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66760" y="4155948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This presentation: generated in PptxGenJS by Claude Code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7EDDE4-9873-9B77-A7FD-38AECFA2C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54BE24F-E55E-B607-4F59-1E319A2309E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80E473B-5D20-00CC-D6C4-0E0EA16386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A3D6F4-2553-6A9C-D180-19C39C734E9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KEY CONDITIONS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FOUR Cs</a:t>
            </a:r>
            <a:endParaRPr lang="en-US" sz="1050" dirty="0"/>
          </a:p>
        </p:txBody>
      </p:sp>
      <p:pic>
        <p:nvPicPr>
          <p:cNvPr id="4" name="Image 0" descr="/tmp/icons/ai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224028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3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conditions that made AI-first </a:t>
            </a:r>
            <a:r>
              <a:rPr lang="en-US" sz="33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possible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0" y="2240280"/>
            <a:ext cx="1764792" cy="1691640"/>
          </a:xfrm>
          <a:prstGeom prst="rect">
            <a:avLst/>
          </a:prstGeom>
          <a:solidFill>
            <a:srgbClr val="EFEA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0" y="2240280"/>
            <a:ext cx="1764792" cy="7315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42816" y="2386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Context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242816" y="278892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Everything in the repo, readable by Claude at any raw GitHub URL.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25896" y="2240280"/>
            <a:ext cx="1764792" cy="1691640"/>
          </a:xfrm>
          <a:prstGeom prst="rect">
            <a:avLst/>
          </a:prstGeom>
          <a:solidFill>
            <a:srgbClr val="EFEA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025896" y="2240280"/>
            <a:ext cx="1764792" cy="7315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53912" y="2386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Connections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153912" y="278892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Calendar, Drive, and Figma wired in, so Claude reached tools, not just files.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36992" y="2240280"/>
            <a:ext cx="1764792" cy="1691640"/>
          </a:xfrm>
          <a:prstGeom prst="rect">
            <a:avLst/>
          </a:prstGeom>
          <a:solidFill>
            <a:srgbClr val="EFEA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936992" y="2240280"/>
            <a:ext cx="1764792" cy="7315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65008" y="2386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Capabilities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065008" y="278892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short prompt kicked off multi-step jobs that shipped real artifacts.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48088" y="2240280"/>
            <a:ext cx="1764792" cy="1691640"/>
          </a:xfrm>
          <a:prstGeom prst="rect">
            <a:avLst/>
          </a:prstGeom>
          <a:solidFill>
            <a:srgbClr val="EFEA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848088" y="2240280"/>
            <a:ext cx="1764792" cy="7315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976104" y="2386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Cadence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976104" y="278892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 and the dashboard kept delivering with no one watching.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114800" y="4251960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1E63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Underneath it all: trust and iteration. The team redirected, Claude revised. A collaborator, not a vending machine.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7EE7872-0BF8-12C4-F01F-EA3DD7DB97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132905C-D128-CD99-908E-DC550008818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755D0F6-A1AB-622A-1206-45082E9BFA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A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RETROSPECTIVE</a:t>
            </a:r>
            <a:endParaRPr lang="en-US" sz="1050" dirty="0"/>
          </a:p>
        </p:txBody>
      </p:sp>
      <p:pic>
        <p:nvPicPr>
          <p:cNvPr id="4" name="Image 0" descr="/tmp/icons/ai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224028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566928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3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Lessons from a </a:t>
            </a:r>
            <a:r>
              <a:rPr lang="en-US" sz="33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sprint</a:t>
            </a:r>
            <a:r>
              <a:rPr lang="en-US" sz="33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with AI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3C2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KEEP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session-start context at workspace and project level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Repo-as-source-of-truth with raw GitHub URLs for instant access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MCP connections to Calendar and Drive set up before the project starts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14800" y="4261104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89120" y="4155948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for every major turn: context that accumulates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3C2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 NEXT TIME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66760" y="2295144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Slack MCP connected from day one, not mid-project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092440" y="3020568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66760" y="2915412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 setup in the first week, not after phase 2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92440" y="3640836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66760" y="3535680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Dashboard structure defined before production begins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092440" y="4261104"/>
            <a:ext cx="118872" cy="118872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366760" y="4155948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Figma MCP set up before the component library is built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17133A-CA8B-6B4F-1F34-03A5F03A49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9FE97A3-5E91-C687-CEBF-83B11229428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0C43A8B-122D-0651-FD37-88511EB37C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213E55-3ABE-5F30-7177-73BBC94020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THE ECOSYSTEM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—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MCP PLUGINS &amp; CONNECTIONS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2240280" cy="150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502920"/>
            <a:ext cx="7619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1A1614"/>
                </a:solidFill>
                <a:latin typeface="Fira Sans Extra Condensed"/>
              </a:rPr>
              <a:t>Everything orbits </a:t>
            </a:r>
            <a:r>
              <a:rPr sz="3400" b="1">
                <a:solidFill>
                  <a:srgbClr val="1E50EF"/>
                </a:solidFill>
                <a:latin typeface="Fira Sans Extra Condensed"/>
              </a:rPr>
              <a:t>one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73952"/>
            <a:ext cx="7711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A857E"/>
                </a:solidFill>
                <a:latin typeface="Fira Code"/>
              </a:rPr>
              <a:t>AI DAY   ·   JUNE 9, 2026   ·   BROOKHAVEN HQ + GLOBAL SITES   ·   THE WEATHER COMPANY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2176272"/>
            <a:ext cx="5394960" cy="3511296"/>
          </a:xfrm>
          <a:prstGeom prst="ellipse">
            <a:avLst/>
          </a:prstGeom>
          <a:noFill/>
          <a:ln w="15875">
            <a:solidFill>
              <a:srgbClr val="C9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8138160" y="2176272"/>
            <a:ext cx="0" cy="1755648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138160" y="2837291"/>
            <a:ext cx="2108974" cy="1094629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3931920"/>
            <a:ext cx="2629848" cy="390668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38160" y="3931920"/>
            <a:ext cx="1170392" cy="1581784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967767" y="3931920"/>
            <a:ext cx="1170393" cy="1581784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508311" y="3931920"/>
            <a:ext cx="2629849" cy="390668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6029185" y="2837291"/>
            <a:ext cx="2108975" cy="1094629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0" y="3337560"/>
            <a:ext cx="2377440" cy="1188720"/>
          </a:xfrm>
          <a:prstGeom prst="roundRect">
            <a:avLst>
              <a:gd name="adj" fmla="val 16000"/>
            </a:avLst>
          </a:prstGeom>
          <a:solidFill>
            <a:srgbClr val="1E5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3447288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0" y="384048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ira Sans Extra Condensed"/>
              </a:rPr>
              <a:t>GitHub repo</a:t>
            </a:r>
          </a:p>
          <a:p>
            <a:pPr algn="ctr"/>
            <a:r>
              <a:rPr sz="850">
                <a:solidFill>
                  <a:srgbClr val="2BE0C4"/>
                </a:solidFill>
                <a:latin typeface="Fira Code"/>
              </a:rPr>
              <a:t>single source of truth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728216"/>
            <a:ext cx="2468880" cy="896112"/>
          </a:xfrm>
          <a:prstGeom prst="roundRect">
            <a:avLst>
              <a:gd name="adj" fmla="val 16000"/>
            </a:avLst>
          </a:prstGeom>
          <a:solidFill>
            <a:srgbClr val="3A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952243"/>
            <a:ext cx="448056" cy="4480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44384" y="1773936"/>
            <a:ext cx="1636775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Fira Sans Extra Condensed"/>
              </a:rPr>
              <a:t>Claude Code</a:t>
            </a:r>
          </a:p>
          <a:p>
            <a:pPr algn="l"/>
            <a:r>
              <a:rPr sz="800">
                <a:solidFill>
                  <a:srgbClr val="2BE0C4"/>
                </a:solidFill>
                <a:latin typeface="Fira Code"/>
              </a:rPr>
              <a:t>the “Brand Brain”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1274" y="2425811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578" y="2631551"/>
            <a:ext cx="41148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67074" y="2471531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Slack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status, reveals,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2148" y="3911108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7AC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8452" y="4116848"/>
            <a:ext cx="411480" cy="411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87948" y="3956828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Webhooks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auto status on each push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2692" y="5102224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C79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88996" y="5534278"/>
            <a:ext cx="98755" cy="185166"/>
          </a:xfrm>
          <a:prstGeom prst="rect">
            <a:avLst/>
          </a:prstGeom>
          <a:solidFill>
            <a:srgbClr val="C79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20670" y="5423178"/>
            <a:ext cx="98755" cy="296265"/>
          </a:xfrm>
          <a:prstGeom prst="rect">
            <a:avLst/>
          </a:prstGeom>
          <a:solidFill>
            <a:srgbClr val="C79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52343" y="5307964"/>
            <a:ext cx="98755" cy="411480"/>
          </a:xfrm>
          <a:prstGeom prst="rect">
            <a:avLst/>
          </a:prstGeom>
          <a:solidFill>
            <a:srgbClr val="C79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28492" y="5147944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AI Dashboard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the proof, shown live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1907" y="5102224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1F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211" y="5307964"/>
            <a:ext cx="411480" cy="4114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87707" y="5147944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Figma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design library, read+write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2451" y="3911108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39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8755" y="4116848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28251" y="3956828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Google Drive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assets + 21 headshots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3325" y="2425811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4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9629" y="2631551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49125" y="2471531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Google Calendar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six meetings, one prompt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3937010-44E6-911E-E403-B5DCE94197C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38A49D-DC66-37EB-9C5C-BC1723FAA43E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D5300EC-EA20-5DA7-5E8F-5D1DCC6FBC6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06A46CE-C080-DD4F-0054-6C7542B1896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3108960" cy="3108960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91749" y="3513909"/>
            <a:ext cx="2664823" cy="2664823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13817" y="3735977"/>
            <a:ext cx="2220686" cy="2220686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35886" y="3958046"/>
            <a:ext cx="1776549" cy="1776549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57954" y="4180114"/>
            <a:ext cx="1332411" cy="1332411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80023" y="4402183"/>
            <a:ext cx="888274" cy="888274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02091" y="4624251"/>
            <a:ext cx="444137" cy="444137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502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“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This conference is brought to you by AI. </a:t>
            </a:r>
            <a:endParaRPr lang="en-US" sz="5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creative should be too.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 didn’t just talk about AI adoption. We ran the project with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AIR   ·   AI IN REACH   ·   THE WEATHER COMPANY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Workflow:  docs/claude-workflow.md</a:t>
            </a:r>
            <a:endParaRPr lang="en-US" sz="900" dirty="0"/>
          </a:p>
        </p:txBody>
      </p:sp>
      <p:pic>
        <p:nvPicPr>
          <p:cNvPr id="14" name="Image 0" descr="/tmp/icons/ai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852160"/>
            <a:ext cx="82296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1535</Words>
  <Application>Microsoft Macintosh PowerPoint</Application>
  <PresentationFormat>Widescreen</PresentationFormat>
  <Paragraphs>225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Fira Code</vt:lpstr>
      <vt:lpstr>Fira Sans Condensed</vt:lpstr>
      <vt:lpstr>Fira Sans Extra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Powell</cp:lastModifiedBy>
  <cp:revision>2</cp:revision>
  <dcterms:created xsi:type="dcterms:W3CDTF">2026-06-01T19:55:44Z</dcterms:created>
  <dcterms:modified xsi:type="dcterms:W3CDTF">2026-06-01T20:50:18Z</dcterms:modified>
</cp:coreProperties>
</file>