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64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4.png"/><Relationship Id="rId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651760" cy="2651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9171" y="1103811"/>
            <a:ext cx="2272937" cy="2272937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88583" y="1293223"/>
            <a:ext cx="1894114" cy="189411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77994" y="1482634"/>
            <a:ext cx="1515291" cy="1515291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7406" y="1672046"/>
            <a:ext cx="1136469" cy="113646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56817" y="1861457"/>
            <a:ext cx="757646" cy="757646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46229" y="2050869"/>
            <a:ext cx="378823" cy="3788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HOW WE RAN PROJECT AIR WITH AI FROM DAY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CODE AS</a:t>
            </a:r>
            <a:endParaRPr lang="en-US" sz="5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</a:t>
            </a: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COMMAND CENTER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“Brand Brain” for the whole project, online from day one.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slides in this deck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29184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MCP integrations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76072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phases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JUN 9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22960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2026</a:t>
            </a:r>
            <a:endParaRPr lang="en-US" sz="950" dirty="0"/>
          </a:p>
        </p:txBody>
      </p:sp>
      <p:pic>
        <p:nvPicPr>
          <p:cNvPr id="20" name="Image 0" descr="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897880"/>
            <a:ext cx="842455" cy="5669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F40275-DE49-1AC5-6923-0E6A9332DA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4000"/>
          </a:blip>
          <a:stretch>
            <a:fillRect/>
          </a:stretch>
        </p:blipFill>
        <p:spPr>
          <a:xfrm>
            <a:off x="4343400" y="5124385"/>
            <a:ext cx="7772400" cy="1729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OPERATING MODEL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“BRAND BRAIN” / AIOS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 </a:t>
            </a:r>
            <a:r>
              <a:rPr lang="en-US" sz="36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“Brand Brain”</a:t>
            </a: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at the center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164592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035808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GitHub repo as the </a:t>
            </a:r>
            <a:r>
              <a:rPr lang="en-US" sz="1250" dirty="0">
                <a:solidFill>
                  <a:schemeClr val="accent2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single source of truth</a:t>
            </a: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: every doc, decision, and brief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loaded at session start: instant orientation, no ramp-up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on every creative turn: settled questions stay settled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INTEGRATIONS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295144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Google Calendar: six meetings from one prompt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81101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705862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Google Drive: asset folders and headshots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2217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1165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Figma: read and write to the design library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63245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527298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Slack: every status update and reveal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404317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938016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Webhooks: repo events notify the team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2452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Context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2452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One place that holds what the project is, so any session starts informed.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932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8932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9904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Connections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9904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Live tools wired in, so data is reachable without copy-paste.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6384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6384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7356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Capabilities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7356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short phrase kicks off a multi-step job that ships real work.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73836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73836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4808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Cadence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84808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Parts of it run on their own and keep delivering.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EF54935-33CA-E98C-F9ED-FC4D09B1E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A8BF130-5E2A-EEFE-497F-17447F92DD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2381F57-6A6B-3EDF-2267-C866B894EC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6560910-64A8-6637-F547-F41C59B34F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5299943-81A0-EBBB-6547-7B6E98C273F6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MISSION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Make AI feel like a </a:t>
            </a:r>
            <a:r>
              <a:rPr lang="en-US" sz="35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festival</a:t>
            </a: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,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not a tech conference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Event: AI Day, June 9, 2026, about 830 employees across 5 global locations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Vibe: SXSW meets Coachella. Warm, bold, festival energy, not a tech conference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Five deliverables: animated logo, 24 speaker posters, PPT template, hats and wristbands, tiered swag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796284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69112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Creative team: a six-person crew, creative direction, design, copy, and production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4257294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415213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Hard deadline: June 9, 2026, set by the program brief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F78469-E122-D5B2-D8B1-E096B677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159F83-22E0-FB33-5D56-DA9B1749AA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4DDB85-C0B6-985D-8B7D-3B4606259C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B55654-D746-0849-C0A4-1C944FDD00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</a:t>
            </a:r>
            <a:r>
              <a:rPr lang="en-US" sz="38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repo</a:t>
            </a: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was the project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Every document lived in GitHub: brief, phases, decisions, agendas, vendor specs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read any file by raw URL: context from live source, never stale copies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Branching: main is approved, draft is in progress, review is ready for feedback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captured every direction change, with the rationale preserved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at workspace and project level: full context in seconds at every start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08FD8D-ECDE-6262-55DD-56ABBF1884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5690E0-E1B7-D222-74F2-D49CCD1A24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F6B618-5829-5BF4-7F44-191A969768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A10767-F3B9-C2B0-FDBE-F1B7338937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FD36BA9-EB05-D8B5-574B-3431496C19DE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Git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1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CALENDAR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1" y="603504"/>
            <a:ext cx="5953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team meetings created in </a:t>
            </a:r>
            <a:r>
              <a:rPr lang="en-US" sz="38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prompt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Calendar MCP to Claude Code: calendar write access from the terminal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All six project meetings from a single prompt: Meet links, attendees, and descriptions included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Pre-work notes, repo links, and agenda context embedded in each invite automatically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Zero copy-pasting or manual entry: invites sent with one confirmation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4983480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50E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“The whole thing takes about 2 minutes once the repo is set up.”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docs/google-calendar-setup.md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BEEAE4-78B9-9EE5-9A28-089C9D8A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A8E130-CD91-B263-C25E-AA7935B925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A8D965-DCA7-A18F-EE06-B1B10E4C76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DE83A7-8F1C-45AE-92ED-A265F1FDC3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2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DRIVE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Asset collection, </a:t>
            </a:r>
            <a:r>
              <a:rPr lang="en-US" sz="38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hands-free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Drive MCP with direct folder read and write from Claude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Headshot submissions for 21 ambassadors and executives, organized by poster slot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checked folder contents and flagged missing submissions without leaving the terminal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assets, swag reference files, and brand exports all routed through Drive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6968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21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8887968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headshot submissions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87968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ambassadors + executives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67480F-64F4-60AF-D11F-30DB4D36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7B7BA0-603F-90CF-27AF-36C7B6A914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18AF43F-2A75-EDD5-22F7-DA739C571D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8A81C0-EB57-43CF-F9F7-004B46D917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222EE7-5C17-FA14-3A3A-6BEBB638AF9A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Google Drive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3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FIGMA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07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Design files, </a:t>
            </a:r>
            <a:r>
              <a:rPr lang="en-US" sz="38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readable by AI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Figma MCP with Editor access: read and write, no viewer limits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inspected the component library and read color tokens and type styles directly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Verified logo production files: SVG, PDF, PNG @2x, WEBP @0.5x, AI source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Audited the library against brand guidelines and flagged inconsistencies in real time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796528" y="3063240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96528" y="3063240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15984" y="308152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Color tokens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96528" y="3739896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96528" y="3739896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15984" y="375818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Type styles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796528" y="4416552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96528" y="4416552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15984" y="44348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Logo variants ×4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96528" y="5093208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96528" y="5093208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15984" y="5111496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Component library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E7326CA-411D-3A7E-EDFE-D519BE45D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3262C3C-FDC9-65B7-042C-813BA1B61C7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1AD76F4-5C19-9227-B341-0A87AD009E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9FCEFCE-81F1-BE02-58B1-B32806AEFFDB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4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08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as the team’s </a:t>
            </a:r>
            <a:r>
              <a:rPr lang="en-US" sz="38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writer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drafted all Slack communications: status updates, check-ins, headshot guide rails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reveal announcements formatted for internal channels, ready to send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“Ready to test” summaries after every change: what changed, how to verify, what to expect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“Created with AI” dashboard updates posted to the project channel after each milestone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Pattern: Claude drafts, Michael sends. The team always sees a human hand on the button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F95A46-811B-ACC8-783E-8B4FA128A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CCA692-6FA7-7159-3FCE-C702CD9AAC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61DE5F-0359-6CB7-554B-F5EEFBC79E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DBD220-8329-4836-3A85-1CF28FCFA2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E3D1E5-B740-11F5-3331-3540186A20A8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Claude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5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WEBHOOKS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09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Automated status on </a:t>
            </a:r>
            <a:r>
              <a:rPr lang="en-US" sz="38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every push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 on the GitHub repo triggered Slack notifications on key events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Phase completions, logo approval, and vendor deadline updates auto-surfaced to the team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Atlas print deadline conflict (May 22 vs. May 25) flagged automatically when dates changed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 manual check-in messages needed: the system surfaced the update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480060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1F7D46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Conflict detection: the webhook fired when the Atlas deadline was edited. The team saw it before anyone had to say anything.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C7DA79-14F4-1B2A-A9F3-C392A2DA4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4F0BA9-C57D-A91E-4677-C20714000AB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F8A898-619A-6FE2-9401-B6CF2DDF37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237D43-BD84-5763-F258-88C21770A6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45A935-F345-DC58-4774-3E0C6E82FC19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Webhooks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6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Showing our work, </a:t>
            </a:r>
            <a:r>
              <a:rPr lang="en-US" sz="38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live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Brief commitment: “This conference is brought to you by AI. The creative should be too.”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dashboard tracked every deliverable that used AI: the tool, its role, and the output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Tools logged: Claude Code, Adobe Firefly, ElevenLabs, Gemini, Figma AI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AI Photo Booth and AI Song documented as AI-first attendee experiences built for the event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Not just a tracker, a proof point: the dashboard is the story told on AI Day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D79A52-9606-9BCB-2CF3-B858D6E415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9" r="78589"/>
          <a:stretch>
            <a:fillRect/>
          </a:stretch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75A0BA-8726-680B-C7AA-BE257312AC6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DD64E9-9FF2-89F7-565E-878C8E9C09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839" t="-9810" r="49031" b="49062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663DC5-B582-6838-30B4-14F60E71B0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6B2AEC5-D1AA-3B54-AEB4-B814E2E7FE41}"/>
              </a:ext>
            </a:extLst>
          </p:cNvPr>
          <p:cNvSpPr txBox="1"/>
          <p:nvPr/>
        </p:nvSpPr>
        <p:spPr>
          <a:xfrm>
            <a:off x="10559948" y="382262"/>
            <a:ext cx="170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AI-FIRST PROCESS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1" y="603504"/>
            <a:ext cx="4808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AI wasn’t a feature. It was the </a:t>
            </a:r>
            <a:r>
              <a:rPr lang="en-US" sz="34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CREATIVE 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Logo ideation: references and concept directions explored with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Brand guidelines: written and updated live in the repo, readable any 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comparisons: Superside vs. in-house, Atlas vs. alternatives, analyzed by Claude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PRODUCTION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295144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Meeting summaries: May 18 session notes consolidated by Gemini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915412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system: slot architecture designed with Claude code-gen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5356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Copy: 20 prompt-card ideas generated by AI pre-meeting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405155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946398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This presentation: generated in PptxGenJS by Claude 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4BD029-6F22-403C-AB48-9D4E4AD934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98F116-7554-53A1-F0B3-7288D9A7EF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BC34BB-B123-8569-E3B5-929698DF1F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8C64FB-075E-FD2D-C794-FAFCD5EAD7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8E2A4CB-F2BB-0BE5-FAF0-FF058FA161E0}"/>
              </a:ext>
            </a:extLst>
          </p:cNvPr>
          <p:cNvSpPr txBox="1"/>
          <p:nvPr/>
        </p:nvSpPr>
        <p:spPr>
          <a:xfrm>
            <a:off x="10559948" y="382262"/>
            <a:ext cx="1703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Slack updates?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Project Air Tracker maybe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phases, </a:t>
            </a:r>
            <a:r>
              <a:rPr lang="en-US" sz="4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AI thread</a:t>
            </a:r>
            <a:r>
              <a:rPr lang="en-US" sz="4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running through all of them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115568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Brand Foundation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15568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5 –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43984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43984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36592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Templates &amp; Systems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36592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65008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65008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7616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357616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Production Sprint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57616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1115568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Animation &amp; Polish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15568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43984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43984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36592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4736592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Print Handoff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736592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5008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65008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57616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8357616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Premium Swag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357616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KEY CONDITIONS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“BRAND BRAIN” LAYERS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conditions that made AI-first </a:t>
            </a:r>
            <a:r>
              <a:rPr lang="en-US" sz="35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possible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Context: everything in the repo, readable by Claude at any raw GitHub URL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Connections: Calendar, Drive, and Figma wired in, so Claude reached tools, not just files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Capabilities: a short prompt kicked off multi-step jobs that shipped real artifacts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Cadence: webhooks and the dashboard kept delivering with no one watching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Trust and iteration: the team redirected and Claude revised. A collaborator, not a vending machine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BEB3F8-0B2F-DC1F-411E-9F56D544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2" r="47772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A744DA-F11E-721E-095A-6DD06301939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A4C21E-E6E0-9FA1-6D74-87D58AAF4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" r="43215" b="4324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2AF51F4-60A6-F2D3-55FE-99654CB5510A}"/>
              </a:ext>
            </a:extLst>
          </p:cNvPr>
          <p:cNvSpPr txBox="1"/>
          <p:nvPr/>
        </p:nvSpPr>
        <p:spPr>
          <a:xfrm>
            <a:off x="6782637" y="5044440"/>
            <a:ext cx="4305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This is ither redundant from what we’re showing in slide that is 02 or where the 4 Cs should be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Lessons from a </a:t>
            </a:r>
            <a:r>
              <a:rPr lang="en-US" sz="34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sprint</a:t>
            </a: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with AI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F7D4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session-start context at workspace and project level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Repo-as-source-of-truth with raw GitHub URLs for instant access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MCP connections to Calendar and Drive set up before the project starts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426110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4155948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for every major turn: context that accumulates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F7D4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 NEXT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295144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 MCP connected from day one, not mid-project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281101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2705862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 setup in the first week, not after phase 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22173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1165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Dashboard structure defined before production begins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363245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527298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 MCP set up before the component library is built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C7D01C-0774-094A-0050-55DC6D435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74" r="46874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40E6A0-5723-6EAD-EBEA-4C9EC0ADBC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54635AB-8128-5D69-F0D2-802D962D78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55" t="-2582" r="42218" b="41004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THE ECOSYSTEM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—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MCP PLUGINS &amp;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132588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0" b="1">
                <a:solidFill>
                  <a:srgbClr val="2BE0C4"/>
                </a:solidFill>
                <a:latin typeface="Fira Sans Extra Condensed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02920"/>
            <a:ext cx="7619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1A1614"/>
                </a:solidFill>
                <a:latin typeface="Fira Sans Extra Condensed"/>
              </a:rPr>
              <a:t>Everything orbits </a:t>
            </a:r>
            <a:r>
              <a:rPr sz="3400" b="1">
                <a:solidFill>
                  <a:srgbClr val="1E50EF"/>
                </a:solidFill>
                <a:latin typeface="Fira Sans Extra Condensed"/>
              </a:rPr>
              <a:t>one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73952"/>
            <a:ext cx="7711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A857E"/>
                </a:solidFill>
                <a:latin typeface="Fira Code"/>
              </a:rPr>
              <a:t>AI DAY   ·   JUNE 9, 2026   ·   BROOKHAVEN HQ + GLOBAL SITES   ·   THE WEATHER COMPANY</a:t>
            </a:r>
          </a:p>
        </p:txBody>
      </p:sp>
      <p:sp>
        <p:nvSpPr>
          <p:cNvPr id="8" name="Oval 7"/>
          <p:cNvSpPr/>
          <p:nvPr/>
        </p:nvSpPr>
        <p:spPr>
          <a:xfrm>
            <a:off x="5341787" y="1956817"/>
            <a:ext cx="5394960" cy="3657600"/>
          </a:xfrm>
          <a:prstGeom prst="ellipse">
            <a:avLst/>
          </a:prstGeom>
          <a:noFill/>
          <a:ln w="15875">
            <a:solidFill>
              <a:srgbClr val="C9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8039267" y="1956817"/>
            <a:ext cx="0" cy="1828800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039267" y="2645378"/>
            <a:ext cx="2108974" cy="1140239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39267" y="3785617"/>
            <a:ext cx="2629848" cy="406946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39267" y="3785617"/>
            <a:ext cx="1170392" cy="1647691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868874" y="3785617"/>
            <a:ext cx="1170393" cy="1647691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09418" y="3785617"/>
            <a:ext cx="2629849" cy="406946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930292" y="2645378"/>
            <a:ext cx="2108975" cy="1140239"/>
          </a:xfrm>
          <a:prstGeom prst="line">
            <a:avLst/>
          </a:prstGeom>
          <a:ln w="19050">
            <a:solidFill>
              <a:srgbClr val="1E5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0547" y="3191257"/>
            <a:ext cx="2377440" cy="1188720"/>
          </a:xfrm>
          <a:prstGeom prst="roundRect">
            <a:avLst>
              <a:gd name="adj" fmla="val 16000"/>
            </a:avLst>
          </a:prstGeom>
          <a:solidFill>
            <a:srgbClr val="1E5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955" y="3300985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1987" y="3694177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ira Sans Extra Condensed"/>
              </a:rPr>
              <a:t>GitHub repo</a:t>
            </a:r>
          </a:p>
          <a:p>
            <a:pPr algn="ctr"/>
            <a:r>
              <a:rPr sz="850">
                <a:solidFill>
                  <a:srgbClr val="2BE0C4"/>
                </a:solidFill>
                <a:latin typeface="Fira Code"/>
              </a:rPr>
              <a:t>single source of truth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4827" y="1508760"/>
            <a:ext cx="2468880" cy="896112"/>
          </a:xfrm>
          <a:prstGeom prst="roundRect">
            <a:avLst>
              <a:gd name="adj" fmla="val 16000"/>
            </a:avLst>
          </a:prstGeom>
          <a:solidFill>
            <a:srgbClr val="3A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419" y="1732789"/>
            <a:ext cx="448056" cy="4480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45491" y="1554480"/>
            <a:ext cx="1636775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Fira Sans Extra Condensed"/>
              </a:rPr>
              <a:t>Claude Code</a:t>
            </a:r>
          </a:p>
          <a:p>
            <a:pPr algn="l"/>
            <a:r>
              <a:rPr sz="800">
                <a:solidFill>
                  <a:srgbClr val="2BE0C4"/>
                </a:solidFill>
                <a:latin typeface="Fira Code"/>
              </a:rPr>
              <a:t>the “Brand Brain”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2381" y="2233898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685" y="2439638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68181" y="2279618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Slack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status, reveals,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3255" y="3781083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7AC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ebhoo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9559" y="3986823"/>
            <a:ext cx="411480" cy="411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89055" y="3826803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Webhooks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auto status on each push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673715B-CD93-5655-BE18-156A74F344D3}"/>
              </a:ext>
            </a:extLst>
          </p:cNvPr>
          <p:cNvGrpSpPr/>
          <p:nvPr/>
        </p:nvGrpSpPr>
        <p:grpSpPr>
          <a:xfrm>
            <a:off x="8286756" y="5021828"/>
            <a:ext cx="2331720" cy="822960"/>
            <a:chOff x="8043799" y="5021828"/>
            <a:chExt cx="2331720" cy="822960"/>
          </a:xfrm>
        </p:grpSpPr>
        <p:sp>
          <p:nvSpPr>
            <p:cNvPr id="28" name="Rounded Rectangle 27"/>
            <p:cNvSpPr/>
            <p:nvPr/>
          </p:nvSpPr>
          <p:spPr>
            <a:xfrm>
              <a:off x="8043799" y="5021828"/>
              <a:ext cx="2331720" cy="82296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22225">
              <a:solidFill>
                <a:srgbClr val="C79B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190103" y="5453882"/>
              <a:ext cx="98755" cy="185166"/>
            </a:xfrm>
            <a:prstGeom prst="rect">
              <a:avLst/>
            </a:prstGeom>
            <a:solidFill>
              <a:srgbClr val="C79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321777" y="5342783"/>
              <a:ext cx="98755" cy="296265"/>
            </a:xfrm>
            <a:prstGeom prst="rect">
              <a:avLst/>
            </a:prstGeom>
            <a:solidFill>
              <a:srgbClr val="C79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53450" y="5227568"/>
              <a:ext cx="98755" cy="411480"/>
            </a:xfrm>
            <a:prstGeom prst="rect">
              <a:avLst/>
            </a:prstGeom>
            <a:solidFill>
              <a:srgbClr val="C79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729599" y="5067548"/>
              <a:ext cx="1554479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1A1614"/>
                  </a:solidFill>
                  <a:latin typeface="Fira Sans Extra Condensed"/>
                </a:rPr>
                <a:t>AI Dashboard</a:t>
              </a:r>
            </a:p>
            <a:p>
              <a:pPr algn="l"/>
              <a:r>
                <a:rPr sz="750">
                  <a:solidFill>
                    <a:srgbClr val="8A857E"/>
                  </a:solidFill>
                  <a:latin typeface="Fira Code"/>
                </a:rPr>
                <a:t>the proof, shown live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04BA6-7145-4A32-D7B7-E2E26BD7CFC0}"/>
              </a:ext>
            </a:extLst>
          </p:cNvPr>
          <p:cNvGrpSpPr/>
          <p:nvPr/>
        </p:nvGrpSpPr>
        <p:grpSpPr>
          <a:xfrm>
            <a:off x="5341787" y="5021828"/>
            <a:ext cx="2331720" cy="822960"/>
            <a:chOff x="5341787" y="5021828"/>
            <a:chExt cx="2331720" cy="822960"/>
          </a:xfrm>
        </p:grpSpPr>
        <p:sp>
          <p:nvSpPr>
            <p:cNvPr id="33" name="Rounded Rectangle 32"/>
            <p:cNvSpPr/>
            <p:nvPr/>
          </p:nvSpPr>
          <p:spPr>
            <a:xfrm>
              <a:off x="5341787" y="5021828"/>
              <a:ext cx="2331720" cy="82296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22225">
              <a:solidFill>
                <a:srgbClr val="1F7D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4" name="Picture 33" descr="figma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8091" y="5227568"/>
              <a:ext cx="411480" cy="41148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027587" y="5067548"/>
              <a:ext cx="1554479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dirty="0">
                  <a:solidFill>
                    <a:srgbClr val="1A1614"/>
                  </a:solidFill>
                  <a:latin typeface="Fira Sans Extra Condensed"/>
                </a:rPr>
                <a:t>Figma</a:t>
              </a:r>
            </a:p>
            <a:p>
              <a:pPr algn="l"/>
              <a:r>
                <a:rPr sz="750" dirty="0">
                  <a:solidFill>
                    <a:srgbClr val="8A857E"/>
                  </a:solidFill>
                  <a:latin typeface="Fira Code"/>
                </a:rPr>
                <a:t>design library, </a:t>
              </a:r>
              <a:r>
                <a:rPr sz="750" dirty="0" err="1">
                  <a:solidFill>
                    <a:srgbClr val="8A857E"/>
                  </a:solidFill>
                  <a:latin typeface="Fira Code"/>
                </a:rPr>
                <a:t>read+write</a:t>
              </a:r>
              <a:endParaRPr sz="750" dirty="0">
                <a:solidFill>
                  <a:srgbClr val="8A857E"/>
                </a:solidFill>
                <a:latin typeface="Fira Code"/>
              </a:endParaRPr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4243558" y="3781083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39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dr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862" y="3986823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29358" y="3826803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Google Drive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assets + 21 headshots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64432" y="2233898"/>
            <a:ext cx="233172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4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736" y="2439638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50232" y="2279618"/>
            <a:ext cx="15544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1614"/>
                </a:solidFill>
                <a:latin typeface="Fira Sans Extra Condensed"/>
              </a:rPr>
              <a:t>Google Calendar</a:t>
            </a:r>
          </a:p>
          <a:p>
            <a:pPr algn="l"/>
            <a:r>
              <a:rPr sz="750">
                <a:solidFill>
                  <a:srgbClr val="8A857E"/>
                </a:solidFill>
                <a:latin typeface="Fira Code"/>
              </a:rPr>
              <a:t>six meetings, one prompt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986CC29-4DAE-4C18-7AEC-D2A119D0CBF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5480" r="45480"/>
          <a:stretch/>
        </p:blipFill>
        <p:spPr>
          <a:xfrm>
            <a:off x="3015049" y="-34290"/>
            <a:ext cx="551111" cy="3429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0FBEF39-8EBD-5A43-6F03-9365A5C1D6B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9000"/>
          </a:blip>
          <a:srcRect l="41137" r="12980"/>
          <a:stretch>
            <a:fillRect/>
          </a:stretch>
        </p:blipFill>
        <p:spPr>
          <a:xfrm>
            <a:off x="0" y="5141847"/>
            <a:ext cx="3566160" cy="172986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8EA03A7-D5BE-8D5D-6979-03AF0FDAF2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" r="46807" b="46833"/>
          <a:stretch>
            <a:fillRect/>
          </a:stretch>
        </p:blipFill>
        <p:spPr>
          <a:xfrm>
            <a:off x="1383957" y="4684776"/>
            <a:ext cx="2182203" cy="218008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747CCE2-E646-C5CF-7887-BD6AA90D24E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0190" b="20765"/>
          <a:stretch>
            <a:fillRect/>
          </a:stretch>
        </p:blipFill>
        <p:spPr>
          <a:xfrm>
            <a:off x="13445" y="3935510"/>
            <a:ext cx="1215064" cy="11926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3108960" cy="3108960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91749" y="3513909"/>
            <a:ext cx="2664823" cy="2664823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13817" y="3735977"/>
            <a:ext cx="2220686" cy="2220686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35886" y="3958046"/>
            <a:ext cx="1776549" cy="1776549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57954" y="4180114"/>
            <a:ext cx="1332411" cy="1332411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80023" y="4402183"/>
            <a:ext cx="888274" cy="888274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02091" y="4624251"/>
            <a:ext cx="444137" cy="444137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02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This conference is brought to you by AI. </a:t>
            </a:r>
            <a:endParaRPr lang="en-US" sz="5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creative should be too.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 didn’t just talk about AI adoption. We ran the project with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AIR   ·   AI IN REACH   ·   THE WEATHER COMPANY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Workflow:  docs/claude-workflow.md</a:t>
            </a:r>
            <a:endParaRPr lang="en-US" sz="900" dirty="0"/>
          </a:p>
        </p:txBody>
      </p:sp>
      <p:pic>
        <p:nvPicPr>
          <p:cNvPr id="14" name="Image 0" descr="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852160"/>
            <a:ext cx="815279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ject AIR">
      <a:dk1>
        <a:srgbClr val="1A1614"/>
      </a:dk1>
      <a:lt1>
        <a:srgbClr val="FFFFFF"/>
      </a:lt1>
      <a:dk2>
        <a:srgbClr val="3A1E63"/>
      </a:dk2>
      <a:lt2>
        <a:srgbClr val="FBFAF6"/>
      </a:lt2>
      <a:accent1>
        <a:srgbClr val="E4189A"/>
      </a:accent1>
      <a:accent2>
        <a:srgbClr val="1E50EF"/>
      </a:accent2>
      <a:accent3>
        <a:srgbClr val="3A1E63"/>
      </a:accent3>
      <a:accent4>
        <a:srgbClr val="F39A12"/>
      </a:accent4>
      <a:accent5>
        <a:srgbClr val="1F7D46"/>
      </a:accent5>
      <a:accent6>
        <a:srgbClr val="F3C200"/>
      </a:accent6>
      <a:hlink>
        <a:srgbClr val="1E50EF"/>
      </a:hlink>
      <a:folHlink>
        <a:srgbClr val="C81E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1646</Words>
  <Application>Microsoft Macintosh PowerPoint</Application>
  <PresentationFormat>Widescreen</PresentationFormat>
  <Paragraphs>240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Fira Code</vt:lpstr>
      <vt:lpstr>Fira Sans Condensed</vt:lpstr>
      <vt:lpstr>Fira Sans Extra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Powell</cp:lastModifiedBy>
  <cp:revision>5</cp:revision>
  <dcterms:created xsi:type="dcterms:W3CDTF">2026-06-01T17:23:02Z</dcterms:created>
  <dcterms:modified xsi:type="dcterms:W3CDTF">2026-06-01T19:26:09Z</dcterms:modified>
</cp:coreProperties>
</file>