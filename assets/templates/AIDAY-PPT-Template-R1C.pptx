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75" r:id="rId2"/>
    <p:sldId id="257" r:id="rId3"/>
    <p:sldId id="258" r:id="rId4"/>
    <p:sldId id="259" r:id="rId5"/>
    <p:sldId id="260" r:id="rId6"/>
    <p:sldId id="272" r:id="rId7"/>
    <p:sldId id="262" r:id="rId8"/>
    <p:sldId id="263" r:id="rId9"/>
    <p:sldId id="264" r:id="rId10"/>
    <p:sldId id="273" r:id="rId11"/>
    <p:sldId id="274" r:id="rId12"/>
    <p:sldId id="265" r:id="rId13"/>
    <p:sldId id="266" r:id="rId14"/>
    <p:sldId id="271" r:id="rId15"/>
    <p:sldId id="268" r:id="rId16"/>
    <p:sldId id="269" r:id="rId1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8C1"/>
    <a:srgbClr val="6B0800"/>
    <a:srgbClr val="74D861"/>
    <a:srgbClr val="1E7A4D"/>
    <a:srgbClr val="75D761"/>
    <a:srgbClr val="66FBE1"/>
    <a:srgbClr val="0C142A"/>
    <a:srgbClr val="FADE4B"/>
    <a:srgbClr val="FFDD04"/>
    <a:srgbClr val="F9D805"/>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59"/>
    <p:restoredTop sz="74919"/>
  </p:normalViewPr>
  <p:slideViewPr>
    <p:cSldViewPr snapToGrid="0" snapToObjects="1">
      <p:cViewPr>
        <p:scale>
          <a:sx n="155" d="100"/>
          <a:sy n="155" d="100"/>
        </p:scale>
        <p:origin x="4696" y="121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05201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5E07C-6CB8-5279-CE04-43EA02F9D9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40EB29-582E-DC64-4262-6E722007620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E0213EA9-223C-C7B2-006D-97E91FCBB410}"/>
              </a:ext>
            </a:extLst>
          </p:cNvPr>
          <p:cNvSpPr>
            <a:spLocks noGrp="1"/>
          </p:cNvSpPr>
          <p:nvPr>
            <p:ph type="body" sz="quarter" idx="3"/>
          </p:nvPr>
        </p:nvSpPr>
        <p:spPr/>
        <p:txBody>
          <a:bodyPr/>
          <a:lstStyle/>
          <a:p>
            <a:r>
              <a:rPr dirty="0"/>
              <a:t>TITLE SLIDE</a:t>
            </a:r>
          </a:p>
          <a:p>
            <a:endParaRPr dirty="0"/>
          </a:p>
          <a:p>
            <a:r>
              <a:rPr dirty="0"/>
              <a:t>Open with a hook (not a self-intro). 30-45 seconds max.</a:t>
            </a:r>
          </a:p>
          <a:p>
            <a:r>
              <a:rPr dirty="0"/>
              <a:t>Suggested beats:</a:t>
            </a:r>
          </a:p>
          <a:p>
            <a:r>
              <a:rPr dirty="0"/>
              <a:t>• Name the moment — why this room, why today</a:t>
            </a:r>
          </a:p>
          <a:p>
            <a:r>
              <a:rPr dirty="0"/>
              <a:t>• Land the session title in one breath</a:t>
            </a:r>
          </a:p>
          <a:p>
            <a:r>
              <a:rPr dirty="0"/>
              <a:t>• Tee up the date as a stake in the ground (June 9, 2026)</a:t>
            </a:r>
          </a:p>
          <a:p>
            <a:endParaRPr dirty="0"/>
          </a:p>
          <a:p>
            <a:r>
              <a:rPr dirty="0"/>
              <a:t>EDIT: Replace 'Session title goes here' and 'HOST PRESENTER NAME'.</a:t>
            </a:r>
          </a:p>
        </p:txBody>
      </p:sp>
      <p:sp>
        <p:nvSpPr>
          <p:cNvPr id="4" name="Slide Number Placeholder 3">
            <a:extLst>
              <a:ext uri="{FF2B5EF4-FFF2-40B4-BE49-F238E27FC236}">
                <a16:creationId xmlns:a16="http://schemas.microsoft.com/office/drawing/2014/main" id="{1974B799-1AC1-F6B7-B267-3E683BF3913C}"/>
              </a:ext>
            </a:extLst>
          </p:cNvPr>
          <p:cNvSpPr>
            <a:spLocks noGrp="1"/>
          </p:cNvSpPr>
          <p:nvPr>
            <p:ph type="sldNum" sz="quarter" idx="5"/>
          </p:nvPr>
        </p:nvSpPr>
        <p:spPr/>
      </p:sp>
    </p:spTree>
    <p:extLst>
      <p:ext uri="{BB962C8B-B14F-4D97-AF65-F5344CB8AC3E}">
        <p14:creationId xmlns:p14="http://schemas.microsoft.com/office/powerpoint/2010/main" val="33973918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SECTION DIVIDER — 'Why now'</a:t>
            </a:r>
          </a:p>
          <a:p>
            <a:endParaRPr dirty="0"/>
          </a:p>
          <a:p>
            <a:r>
              <a:rPr dirty="0"/>
              <a:t>Use to mark a chapter break. Talk for 60-90 seconds.</a:t>
            </a:r>
          </a:p>
          <a:p>
            <a:r>
              <a:rPr dirty="0"/>
              <a:t>Frame the urgency: what changed, what's at stake, what we're responding to. Don't list facts here — set the question that the next 2-3 slides will answer.</a:t>
            </a:r>
          </a:p>
          <a:p>
            <a:endParaRPr dirty="0"/>
          </a:p>
          <a:p>
            <a:r>
              <a:rPr dirty="0"/>
              <a:t>EDIT: Change eyebrow ('01 — CHAPTER') and headline to match your section.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STRATEGY / COMMITMENT SLIDE</a:t>
            </a:r>
          </a:p>
          <a:p>
            <a:endParaRPr dirty="0"/>
          </a:p>
          <a:p>
            <a:r>
              <a:rPr dirty="0"/>
              <a:t>Use when the audience needs a written reference point.</a:t>
            </a:r>
          </a:p>
          <a:p>
            <a:r>
              <a:rPr dirty="0"/>
              <a:t>Read the headline aloud, then paraphrase the body — don't read it verbatim. Let the stat block on the right do the heavy lifting.</a:t>
            </a:r>
          </a:p>
          <a:p>
            <a:endParaRPr dirty="0"/>
          </a:p>
          <a:p>
            <a:r>
              <a:rPr dirty="0"/>
              <a:t>EDIT: Headline, body copy, stat block ($40M / BY 2029 / caption). Keep stat box to one short number + one short qualifier.</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IMAGE + TEXT (HALF/HALF)</a:t>
            </a:r>
          </a:p>
          <a:p>
            <a:endParaRPr dirty="0"/>
          </a:p>
          <a:p>
            <a:r>
              <a:rPr dirty="0"/>
              <a:t>Use for any 'show + tell' moment — product shot, screenshot, photo.</a:t>
            </a:r>
          </a:p>
          <a:p>
            <a:r>
              <a:rPr dirty="0"/>
              <a:t>Talk to the image first, then bridge to the headline.</a:t>
            </a:r>
          </a:p>
          <a:p>
            <a:endParaRPr dirty="0"/>
          </a:p>
          <a:p>
            <a:r>
              <a:rPr dirty="0"/>
              <a:t>EDIT: Replace [placeholder] image (right-click → Change Picture). Update headline runs and the HOST PRESENTER NAME line.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BEFORE / AFTER COMPARISON</a:t>
            </a:r>
          </a:p>
          <a:p>
            <a:endParaRPr dirty="0"/>
          </a:p>
          <a:p>
            <a:r>
              <a:rPr dirty="0"/>
              <a:t>Strongest when the contrast is dramatic — minutes vs. days, manual vs. automated. Read BEFORE state, pause, then deliver AFTER as the payoff.</a:t>
            </a:r>
          </a:p>
          <a:p>
            <a:endParaRPr dirty="0"/>
          </a:p>
          <a:p>
            <a:r>
              <a:rPr dirty="0"/>
              <a:t>EDIT: BEFORE box (deep violet) and AFTER box (hot pink). Swap the numbers and the one-line explanation under each.</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TWO-COLUMN TEXT</a:t>
            </a:r>
          </a:p>
          <a:p>
            <a:endParaRPr dirty="0"/>
          </a:p>
          <a:p>
            <a:r>
              <a:rPr dirty="0"/>
              <a:t>Use for parallel ideas — pros/cons, two principles, two examples. Don't overload; ~50 words per column max.</a:t>
            </a:r>
          </a:p>
          <a:p>
            <a:endParaRPr dirty="0"/>
          </a:p>
          <a:p>
            <a:r>
              <a:rPr dirty="0"/>
              <a:t>EDIT: Replace both column headlines and body copy. Keep the eyebrow tag for navigation context.</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QUOTE / CALLOUT</a:t>
            </a:r>
          </a:p>
          <a:p>
            <a:endParaRPr dirty="0"/>
          </a:p>
          <a:p>
            <a:r>
              <a:rPr dirty="0"/>
              <a:t>Use a real quote with attribution, or a guiding principle.</a:t>
            </a:r>
          </a:p>
          <a:p>
            <a:r>
              <a:rPr dirty="0"/>
              <a:t>Pause after reading. Let it land before moving on.</a:t>
            </a:r>
          </a:p>
          <a:p>
            <a:endParaRPr dirty="0"/>
          </a:p>
          <a:p>
            <a:r>
              <a:rPr dirty="0"/>
              <a:t>EDIT: Replace quote text and attribution line.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LIVE DEMO / FRAME SLIDE</a:t>
            </a:r>
          </a:p>
          <a:p>
            <a:endParaRPr dirty="0"/>
          </a:p>
          <a:p>
            <a:r>
              <a:rPr dirty="0"/>
              <a:t>Switch to your demo here. The bracket marks ([ ]) are visual guides — drop your screen share / embedded video inside them.</a:t>
            </a:r>
          </a:p>
          <a:p>
            <a:endParaRPr dirty="0"/>
          </a:p>
          <a:p>
            <a:r>
              <a:rPr dirty="0"/>
              <a:t>EDIT: Replace placeholder text. If you're not demoing live, paste a screenshot or short video into the frame area.</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BIG STAT SLIDE</a:t>
            </a:r>
          </a:p>
          <a:p>
            <a:endParaRPr dirty="0"/>
          </a:p>
          <a:p>
            <a:r>
              <a:rPr dirty="0"/>
              <a:t>One number, one claim. Say the number, pause, then explain it.</a:t>
            </a:r>
          </a:p>
          <a:p>
            <a:r>
              <a:rPr dirty="0"/>
              <a:t>Strongest when the stat is specific and recent.</a:t>
            </a:r>
          </a:p>
          <a:p>
            <a:endParaRPr dirty="0"/>
          </a:p>
          <a:p>
            <a:r>
              <a:rPr dirty="0"/>
              <a:t>EDIT: Number (currently '98%'), the caption underneath, and source line at the bottom. Always cite your source.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dirty="0"/>
              <a:t>TEMPLATE SLIDE — Amber palette section divider.</a:t>
            </a:r>
          </a:p>
          <a:p>
            <a:endParaRPr dirty="0"/>
          </a:p>
          <a:p>
            <a:r>
              <a:rPr dirty="0"/>
              <a:t>What this is for: Use this layout to introduce a new chapter or pivot in your deck. The full-bleed amber + dark red accent is a high-energy, high-contrast moment — use sparingly.</a:t>
            </a:r>
          </a:p>
          <a:p>
            <a:endParaRPr dirty="0"/>
          </a:p>
          <a:p>
            <a:r>
              <a:rPr dirty="0"/>
              <a:t>EDIT:</a:t>
            </a:r>
          </a:p>
          <a:p>
            <a:r>
              <a:rPr dirty="0"/>
              <a:t>- Change the eyebrow (07 — DEMO) to your section number + label.</a:t>
            </a:r>
          </a:p>
          <a:p>
            <a:r>
              <a:rPr dirty="0"/>
              <a:t>- Replace 'Take it further.' with your chapter headline (≤ 6 words).</a:t>
            </a:r>
          </a:p>
          <a:p>
            <a:r>
              <a:rPr dirty="0"/>
              <a:t>- Replace the subline with one sentence on why this section matters.</a:t>
            </a:r>
          </a:p>
          <a:p>
            <a:r>
              <a:rPr dirty="0"/>
              <a:t>- Keep the bottom-right lockup placement consistent with other slides.</a:t>
            </a:r>
          </a:p>
        </p:txBody>
      </p:sp>
    </p:spTree>
    <p:extLst>
      <p:ext uri="{BB962C8B-B14F-4D97-AF65-F5344CB8AC3E}">
        <p14:creationId xmlns:p14="http://schemas.microsoft.com/office/powerpoint/2010/main" val="8043973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rPr dirty="0"/>
              <a:t>TEMPLATE SLIDE — Forest palette stat slide.</a:t>
            </a:r>
          </a:p>
          <a:p>
            <a:endParaRPr dirty="0"/>
          </a:p>
          <a:p>
            <a:r>
              <a:rPr dirty="0"/>
              <a:t>What this is for: Anchor a single number with weight. One stat. One subline. Nothing else competes.</a:t>
            </a:r>
          </a:p>
          <a:p>
            <a:endParaRPr dirty="0"/>
          </a:p>
          <a:p>
            <a:r>
              <a:rPr dirty="0"/>
              <a:t>EDIT:</a:t>
            </a:r>
          </a:p>
          <a:p>
            <a:r>
              <a:rPr dirty="0"/>
              <a:t>- Replace '5' with your stat. Keep it short — one or two digits, or a tight word like 'EVERY'.</a:t>
            </a:r>
          </a:p>
          <a:p>
            <a:r>
              <a:rPr dirty="0"/>
              <a:t>- Update the subline below the rule with a 6–10 word descriptor.</a:t>
            </a:r>
          </a:p>
          <a:p>
            <a:r>
              <a:rPr dirty="0"/>
              <a:t>- The mono caption at the bottom is optional context (locations, sources, etc.).</a:t>
            </a:r>
          </a:p>
          <a:p>
            <a:r>
              <a:rPr dirty="0"/>
              <a:t>- Forest is the most muted of the 5 palettes — best for serious or factual moments.</a:t>
            </a:r>
          </a:p>
        </p:txBody>
      </p:sp>
    </p:spTree>
    <p:extLst>
      <p:ext uri="{BB962C8B-B14F-4D97-AF65-F5344CB8AC3E}">
        <p14:creationId xmlns:p14="http://schemas.microsoft.com/office/powerpoint/2010/main" val="155831315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THREE-UP CARDS (TRACKS / PILLARS)</a:t>
            </a:r>
          </a:p>
          <a:p>
            <a:endParaRPr dirty="0"/>
          </a:p>
          <a:p>
            <a:r>
              <a:rPr dirty="0"/>
              <a:t>Use for trios — three tracks, three principles, three takeaways. Walk left → middle → right. Don't try to cover everything; pick the headline for each.</a:t>
            </a:r>
          </a:p>
          <a:p>
            <a:endParaRPr dirty="0"/>
          </a:p>
          <a:p>
            <a:r>
              <a:rPr dirty="0"/>
              <a:t>EDIT: Three card labels and body copy. Numbering (01/02/03) is decorative — keep it.</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FEATURED HERO SLIDE</a:t>
            </a:r>
          </a:p>
          <a:p>
            <a:endParaRPr dirty="0"/>
          </a:p>
          <a:p>
            <a:r>
              <a:rPr dirty="0"/>
              <a:t>Use to spotlight a person, project, or team without naming individuals on the deck itself (per Mark's directive). Speak to their work, not their title.</a:t>
            </a:r>
          </a:p>
          <a:p>
            <a:endParaRPr dirty="0"/>
          </a:p>
          <a:p>
            <a:r>
              <a:rPr dirty="0"/>
              <a:t>EDIT: Replace [portrait] placeholder. Update the headline runs.</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2279CD-7AD9-33A1-4B8C-AC8738A563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0C222C-8628-1BB3-023B-96DFE081C6D8}"/>
              </a:ext>
            </a:extLst>
          </p:cNvPr>
          <p:cNvSpPr>
            <a:spLocks noGrp="1" noRot="1" noChangeAspect="1"/>
          </p:cNvSpPr>
          <p:nvPr>
            <p:ph type="sldImg" idx="2"/>
          </p:nvPr>
        </p:nvSpPr>
        <p:spPr/>
      </p:sp>
      <p:sp>
        <p:nvSpPr>
          <p:cNvPr id="3" name="Notes Placeholder 2">
            <a:extLst>
              <a:ext uri="{FF2B5EF4-FFF2-40B4-BE49-F238E27FC236}">
                <a16:creationId xmlns:a16="http://schemas.microsoft.com/office/drawing/2014/main" id="{F7A249B4-71A8-D28F-C4CC-5916DDFD2AEF}"/>
              </a:ext>
            </a:extLst>
          </p:cNvPr>
          <p:cNvSpPr>
            <a:spLocks noGrp="1"/>
          </p:cNvSpPr>
          <p:nvPr>
            <p:ph type="body" sz="quarter" idx="3"/>
          </p:nvPr>
        </p:nvSpPr>
        <p:spPr/>
        <p:txBody>
          <a:bodyPr/>
          <a:lstStyle/>
          <a:p>
            <a:r>
              <a:rPr dirty="0"/>
              <a:t>CLOSING SLIDE</a:t>
            </a:r>
          </a:p>
          <a:p>
            <a:endParaRPr dirty="0"/>
          </a:p>
          <a:p>
            <a:r>
              <a:rPr dirty="0"/>
              <a:t>Three things to leave them with:</a:t>
            </a:r>
          </a:p>
          <a:p>
            <a:r>
              <a:rPr dirty="0"/>
              <a:t>1) The date (June 9) — said out loud</a:t>
            </a:r>
          </a:p>
          <a:p>
            <a:r>
              <a:rPr dirty="0"/>
              <a:t>2) The next step (RSVP via QR / Slack)</a:t>
            </a:r>
          </a:p>
          <a:p>
            <a:r>
              <a:rPr dirty="0"/>
              <a:t>3) Where to follow up (#project-air on Slack)</a:t>
            </a:r>
          </a:p>
          <a:p>
            <a:endParaRPr dirty="0"/>
          </a:p>
          <a:p>
            <a:r>
              <a:rPr dirty="0"/>
              <a:t>Don't read the QR — point to it. Hold the slide for ~10 seconds so people can scan.</a:t>
            </a:r>
          </a:p>
          <a:p>
            <a:endParaRPr dirty="0"/>
          </a:p>
          <a:p>
            <a:r>
              <a:rPr dirty="0"/>
              <a:t>EDIT: Contact line, next-steps copy. Replace QR placeholder by saving </a:t>
            </a:r>
            <a:r>
              <a:rPr dirty="0" err="1"/>
              <a:t>qr-rsvp.png</a:t>
            </a:r>
            <a:r>
              <a:rPr dirty="0"/>
              <a:t> to assets/templates/slot-elements/</a:t>
            </a:r>
            <a:r>
              <a:rPr dirty="0" err="1"/>
              <a:t>png</a:t>
            </a:r>
            <a:r>
              <a:rPr dirty="0"/>
              <a:t>/.</a:t>
            </a:r>
          </a:p>
        </p:txBody>
      </p:sp>
      <p:sp>
        <p:nvSpPr>
          <p:cNvPr id="4" name="Slide Number Placeholder 3">
            <a:extLst>
              <a:ext uri="{FF2B5EF4-FFF2-40B4-BE49-F238E27FC236}">
                <a16:creationId xmlns:a16="http://schemas.microsoft.com/office/drawing/2014/main" id="{EDCAB091-478B-3BE8-1C03-2EA030D731EC}"/>
              </a:ext>
            </a:extLst>
          </p:cNvPr>
          <p:cNvSpPr>
            <a:spLocks noGrp="1"/>
          </p:cNvSpPr>
          <p:nvPr>
            <p:ph type="sldNum" sz="quarter" idx="5"/>
          </p:nvPr>
        </p:nvSpPr>
        <p:spPr/>
      </p:sp>
    </p:spTree>
    <p:extLst>
      <p:ext uri="{BB962C8B-B14F-4D97-AF65-F5344CB8AC3E}">
        <p14:creationId xmlns:p14="http://schemas.microsoft.com/office/powerpoint/2010/main" val="271327660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TEMPLATE GUIDE — not part of your presentation.</a:t>
            </a:r>
          </a:p>
          <a:p>
            <a:endParaRPr dirty="0"/>
          </a:p>
          <a:p>
            <a:r>
              <a:rPr dirty="0"/>
              <a:t>This slide explains the system to anyone editing the deck. Leave it in the master file; delete it from your own copies.</a:t>
            </a:r>
          </a:p>
          <a:p>
            <a:endParaRPr dirty="0"/>
          </a:p>
          <a:p>
            <a:r>
              <a:rPr dirty="0"/>
              <a:t>Palette swatches show the three pairings (magenta / cyan / violet). Type sample shows the two fonts (Fira Sans Extra Condensed for display, Fira Code for mono labels).</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TEMPLATE GUIDE — workflow steps.</a:t>
            </a:r>
          </a:p>
          <a:p>
            <a:endParaRPr dirty="0"/>
          </a:p>
          <a:p>
            <a:r>
              <a:rPr dirty="0"/>
              <a:t>Four-step workflow for new presenters:</a:t>
            </a:r>
          </a:p>
          <a:p>
            <a:r>
              <a:rPr dirty="0"/>
              <a:t>01 Duplicate a slide  →  02 Replace text  →  03 Swap image  →  04 Save As</a:t>
            </a:r>
          </a:p>
          <a:p>
            <a:endParaRPr dirty="0"/>
          </a:p>
          <a:p>
            <a:r>
              <a:rPr dirty="0"/>
              <a:t>Delete this slide from your own copy. Pair with slide 13 (palette + type guide) for the full how-to.</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0.sv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11.sv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5.png"/><Relationship Id="rId5" Type="http://schemas.openxmlformats.org/officeDocument/2006/relationships/image" Target="../media/image13.png"/><Relationship Id="rId4" Type="http://schemas.openxmlformats.org/officeDocument/2006/relationships/image" Target="../media/image1.png"/></Relationships>
</file>

<file path=ppt/slides/_rels/slide15.xml.rels><?xml version="1.0" encoding="UTF-8" standalone="yes"?>
<Relationships xmlns="http://schemas.openxmlformats.org/package/2006/relationships"><Relationship Id="rId3" Type="http://schemas.openxmlformats.org/officeDocument/2006/relationships/hyperlink" Target="https://fonts.google.com/specimen/Fira+Sans+Extra+Condensed"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hyperlink" Target="https://fonts.google.com/specimen/Fira+Code" TargetMode="Externa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D176FFDB-A8E6-1995-2CE1-786C593DDF15}"/>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ED0ED3C7-7AC4-64B8-20BE-E77FDB0AE53F}"/>
              </a:ext>
            </a:extLst>
          </p:cNvPr>
          <p:cNvPicPr>
            <a:picLocks noChangeAspect="1"/>
          </p:cNvPicPr>
          <p:nvPr/>
        </p:nvPicPr>
        <p:blipFill>
          <a:blip r:embed="rId3"/>
          <a:stretch>
            <a:fillRect/>
          </a:stretch>
        </p:blipFill>
        <p:spPr>
          <a:xfrm rot="21448218">
            <a:off x="-2914258" y="3256726"/>
            <a:ext cx="11940891" cy="2643961"/>
          </a:xfrm>
          <a:prstGeom prst="rect">
            <a:avLst/>
          </a:prstGeom>
        </p:spPr>
      </p:pic>
      <p:pic>
        <p:nvPicPr>
          <p:cNvPr id="2" name="Picture 1" descr="Vector1_dark.png">
            <a:extLst>
              <a:ext uri="{FF2B5EF4-FFF2-40B4-BE49-F238E27FC236}">
                <a16:creationId xmlns:a16="http://schemas.microsoft.com/office/drawing/2014/main" id="{A954C760-311E-3139-7DB2-2EA13DA9E2B3}"/>
              </a:ext>
            </a:extLst>
          </p:cNvPr>
          <p:cNvPicPr>
            <a:picLocks noChangeAspect="1"/>
          </p:cNvPicPr>
          <p:nvPr/>
        </p:nvPicPr>
        <p:blipFill>
          <a:blip r:embed="rId4"/>
          <a:stretch>
            <a:fillRect/>
          </a:stretch>
        </p:blipFill>
        <p:spPr>
          <a:xfrm>
            <a:off x="5943600" y="-1327226"/>
            <a:ext cx="5523046" cy="3156026"/>
          </a:xfrm>
          <a:prstGeom prst="rect">
            <a:avLst/>
          </a:prstGeom>
        </p:spPr>
      </p:pic>
      <p:sp>
        <p:nvSpPr>
          <p:cNvPr id="3" name="TextBox 2">
            <a:extLst>
              <a:ext uri="{FF2B5EF4-FFF2-40B4-BE49-F238E27FC236}">
                <a16:creationId xmlns:a16="http://schemas.microsoft.com/office/drawing/2014/main" id="{B9528FC5-1A01-8D5C-D18A-3F3389C17FD4}"/>
              </a:ext>
            </a:extLst>
          </p:cNvPr>
          <p:cNvSpPr txBox="1"/>
          <p:nvPr/>
        </p:nvSpPr>
        <p:spPr>
          <a:xfrm>
            <a:off x="365760" y="365760"/>
            <a:ext cx="3657600" cy="246221"/>
          </a:xfrm>
          <a:prstGeom prst="rect">
            <a:avLst/>
          </a:prstGeom>
          <a:noFill/>
        </p:spPr>
        <p:txBody>
          <a:bodyPr wrap="square" lIns="0" tIns="0" rIns="0" bIns="0" anchor="t">
            <a:spAutoFit/>
          </a:bodyPr>
          <a:lstStyle/>
          <a:p>
            <a:pPr algn="l"/>
            <a:r>
              <a:rPr sz="1600" b="1" dirty="0">
                <a:solidFill>
                  <a:srgbClr val="292929"/>
                </a:solidFill>
                <a:latin typeface="Fira Code"/>
              </a:rPr>
              <a:t>JUNE.9.20</a:t>
            </a:r>
            <a:r>
              <a:rPr sz="1600" b="1" dirty="0">
                <a:solidFill>
                  <a:srgbClr val="FADE4B"/>
                </a:solidFill>
                <a:latin typeface="Fira Code"/>
              </a:rPr>
              <a:t>26</a:t>
            </a:r>
          </a:p>
        </p:txBody>
      </p:sp>
      <p:pic>
        <p:nvPicPr>
          <p:cNvPr id="4" name="Picture 3">
            <a:extLst>
              <a:ext uri="{FF2B5EF4-FFF2-40B4-BE49-F238E27FC236}">
                <a16:creationId xmlns:a16="http://schemas.microsoft.com/office/drawing/2014/main" id="{E90E12A5-B27B-9397-1522-19D5DF805BEE}"/>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374072" y="1140097"/>
            <a:ext cx="5817672" cy="2380152"/>
          </a:xfrm>
          <a:prstGeom prst="rect">
            <a:avLst/>
          </a:prstGeom>
        </p:spPr>
      </p:pic>
      <p:pic>
        <p:nvPicPr>
          <p:cNvPr id="10" name="Picture 9" descr="squiggle.png">
            <a:extLst>
              <a:ext uri="{FF2B5EF4-FFF2-40B4-BE49-F238E27FC236}">
                <a16:creationId xmlns:a16="http://schemas.microsoft.com/office/drawing/2014/main" id="{3C32D871-6E3D-DD64-E2D3-7D2D5949514C}"/>
              </a:ext>
            </a:extLst>
          </p:cNvPr>
          <p:cNvPicPr>
            <a:picLocks noChangeAspect="1"/>
          </p:cNvPicPr>
          <p:nvPr/>
        </p:nvPicPr>
        <p:blipFill>
          <a:blip r:embed="rId6"/>
          <a:srcRect l="8188"/>
          <a:stretch>
            <a:fillRect/>
          </a:stretch>
        </p:blipFill>
        <p:spPr>
          <a:xfrm>
            <a:off x="2194560" y="-1360812"/>
            <a:ext cx="6575368" cy="2864700"/>
          </a:xfrm>
          <a:prstGeom prst="rect">
            <a:avLst/>
          </a:prstGeom>
        </p:spPr>
      </p:pic>
      <p:pic>
        <p:nvPicPr>
          <p:cNvPr id="11" name="Picture 10">
            <a:extLst>
              <a:ext uri="{FF2B5EF4-FFF2-40B4-BE49-F238E27FC236}">
                <a16:creationId xmlns:a16="http://schemas.microsoft.com/office/drawing/2014/main" id="{14FCB634-AC7C-6134-1F25-CC30FFA24170}"/>
              </a:ext>
            </a:extLst>
          </p:cNvPr>
          <p:cNvPicPr>
            <a:picLocks noChangeAspect="1"/>
          </p:cNvPicPr>
          <p:nvPr/>
        </p:nvPicPr>
        <p:blipFill>
          <a:blip r:embed="rId7"/>
          <a:srcRect/>
          <a:stretch/>
        </p:blipFill>
        <p:spPr>
          <a:xfrm>
            <a:off x="7452360" y="3859457"/>
            <a:ext cx="1371600" cy="1050184"/>
          </a:xfrm>
          <a:prstGeom prst="rect">
            <a:avLst/>
          </a:prstGeom>
        </p:spPr>
      </p:pic>
      <p:sp>
        <p:nvSpPr>
          <p:cNvPr id="12" name="TextBox 11">
            <a:extLst>
              <a:ext uri="{FF2B5EF4-FFF2-40B4-BE49-F238E27FC236}">
                <a16:creationId xmlns:a16="http://schemas.microsoft.com/office/drawing/2014/main" id="{CA743AFE-C4C2-3B9D-54FE-7DFC9CB3B907}"/>
              </a:ext>
            </a:extLst>
          </p:cNvPr>
          <p:cNvSpPr txBox="1"/>
          <p:nvPr/>
        </p:nvSpPr>
        <p:spPr>
          <a:xfrm>
            <a:off x="365760" y="4389120"/>
            <a:ext cx="5029200" cy="320040"/>
          </a:xfrm>
          <a:prstGeom prst="rect">
            <a:avLst/>
          </a:prstGeom>
          <a:noFill/>
        </p:spPr>
        <p:txBody>
          <a:bodyPr wrap="square" lIns="0" tIns="0" rIns="0" bIns="0" anchor="t">
            <a:spAutoFit/>
          </a:bodyPr>
          <a:lstStyle/>
          <a:p>
            <a:pPr algn="l"/>
            <a:r>
              <a:rPr sz="2000" b="1">
                <a:solidFill>
                  <a:srgbClr val="F0F0EB"/>
                </a:solidFill>
                <a:latin typeface="Fira Sans Extra Condensed"/>
              </a:rPr>
              <a:t>Session title goes here</a:t>
            </a:r>
          </a:p>
        </p:txBody>
      </p:sp>
      <p:sp>
        <p:nvSpPr>
          <p:cNvPr id="13" name="TextBox 12">
            <a:extLst>
              <a:ext uri="{FF2B5EF4-FFF2-40B4-BE49-F238E27FC236}">
                <a16:creationId xmlns:a16="http://schemas.microsoft.com/office/drawing/2014/main" id="{0D6D3984-E4E8-8966-7B68-44E45F64FCDE}"/>
              </a:ext>
            </a:extLst>
          </p:cNvPr>
          <p:cNvSpPr txBox="1"/>
          <p:nvPr/>
        </p:nvSpPr>
        <p:spPr>
          <a:xfrm>
            <a:off x="365760" y="4709160"/>
            <a:ext cx="5029200" cy="228600"/>
          </a:xfrm>
          <a:prstGeom prst="rect">
            <a:avLst/>
          </a:prstGeom>
          <a:noFill/>
        </p:spPr>
        <p:txBody>
          <a:bodyPr wrap="square" lIns="0" tIns="0" rIns="0" bIns="0" anchor="t">
            <a:spAutoFit/>
          </a:bodyPr>
          <a:lstStyle/>
          <a:p>
            <a:pPr algn="l"/>
            <a:r>
              <a:rPr sz="1000" b="0">
                <a:solidFill>
                  <a:srgbClr val="F0F0EB"/>
                </a:solidFill>
                <a:latin typeface="Fira Code"/>
              </a:rPr>
              <a:t>HOST PRESENTER NAME</a:t>
            </a:r>
          </a:p>
        </p:txBody>
      </p:sp>
      <p:pic>
        <p:nvPicPr>
          <p:cNvPr id="21" name="Picture 20">
            <a:extLst>
              <a:ext uri="{FF2B5EF4-FFF2-40B4-BE49-F238E27FC236}">
                <a16:creationId xmlns:a16="http://schemas.microsoft.com/office/drawing/2014/main" id="{6E7D6B6E-2ABB-9994-4E88-93074DD907CB}"/>
              </a:ext>
            </a:extLst>
          </p:cNvPr>
          <p:cNvPicPr>
            <a:picLocks noChangeAspect="1"/>
          </p:cNvPicPr>
          <p:nvPr/>
        </p:nvPicPr>
        <p:blipFill>
          <a:blip r:embed="rId8"/>
          <a:stretch>
            <a:fillRect/>
          </a:stretch>
        </p:blipFill>
        <p:spPr>
          <a:xfrm>
            <a:off x="5399903" y="2252973"/>
            <a:ext cx="2516735" cy="2516735"/>
          </a:xfrm>
          <a:prstGeom prst="rect">
            <a:avLst/>
          </a:prstGeom>
        </p:spPr>
      </p:pic>
    </p:spTree>
    <p:extLst>
      <p:ext uri="{BB962C8B-B14F-4D97-AF65-F5344CB8AC3E}">
        <p14:creationId xmlns:p14="http://schemas.microsoft.com/office/powerpoint/2010/main" val="227498555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46125B"/>
        </a:solidFill>
        <a:effectLst/>
      </p:bgPr>
    </p:bg>
    <p:spTree>
      <p:nvGrpSpPr>
        <p:cNvPr id="1" name=""/>
        <p:cNvGrpSpPr/>
        <p:nvPr/>
      </p:nvGrpSpPr>
      <p:grpSpPr>
        <a:xfrm>
          <a:off x="0" y="0"/>
          <a:ext cx="0" cy="0"/>
          <a:chOff x="0" y="0"/>
          <a:chExt cx="0" cy="0"/>
        </a:xfrm>
      </p:grpSpPr>
      <p:pic>
        <p:nvPicPr>
          <p:cNvPr id="2" name="Picture 1" descr="top-edge-curve.png"/>
          <p:cNvPicPr>
            <a:picLocks noChangeAspect="1"/>
          </p:cNvPicPr>
          <p:nvPr/>
        </p:nvPicPr>
        <p:blipFill>
          <a:blip r:embed="rId3"/>
          <a:stretch>
            <a:fillRect/>
          </a:stretch>
        </p:blipFill>
        <p:spPr>
          <a:xfrm>
            <a:off x="-244549" y="0"/>
            <a:ext cx="10287000" cy="2571750"/>
          </a:xfrm>
          <a:prstGeom prst="rect">
            <a:avLst/>
          </a:prstGeom>
        </p:spPr>
      </p:pic>
      <p:sp>
        <p:nvSpPr>
          <p:cNvPr id="3" name="TextBox 2"/>
          <p:cNvSpPr txBox="1"/>
          <p:nvPr/>
        </p:nvSpPr>
        <p:spPr>
          <a:xfrm>
            <a:off x="365760" y="365760"/>
            <a:ext cx="3657600" cy="182880"/>
          </a:xfrm>
          <a:prstGeom prst="rect">
            <a:avLst/>
          </a:prstGeom>
          <a:noFill/>
        </p:spPr>
        <p:txBody>
          <a:bodyPr wrap="square" lIns="0" tIns="0" rIns="0" bIns="0" anchor="t">
            <a:spAutoFit/>
          </a:bodyPr>
          <a:lstStyle/>
          <a:p>
            <a:pPr algn="l"/>
            <a:r>
              <a:rPr sz="900" b="0">
                <a:solidFill>
                  <a:srgbClr val="F4DC52"/>
                </a:solidFill>
                <a:latin typeface="Fira Code"/>
              </a:rPr>
              <a:t>01 — CHAPTER</a:t>
            </a:r>
          </a:p>
        </p:txBody>
      </p:sp>
      <p:sp>
        <p:nvSpPr>
          <p:cNvPr id="4" name="TextBox 3"/>
          <p:cNvSpPr txBox="1"/>
          <p:nvPr/>
        </p:nvSpPr>
        <p:spPr>
          <a:xfrm>
            <a:off x="365760" y="1463040"/>
            <a:ext cx="8412480" cy="2646878"/>
          </a:xfrm>
          <a:prstGeom prst="rect">
            <a:avLst/>
          </a:prstGeom>
          <a:noFill/>
        </p:spPr>
        <p:txBody>
          <a:bodyPr wrap="square" lIns="0" tIns="0" rIns="0" bIns="0" anchor="t">
            <a:spAutoFit/>
          </a:bodyPr>
          <a:lstStyle/>
          <a:p>
            <a:pPr algn="l"/>
            <a:r>
              <a:rPr sz="16000" b="1" dirty="0">
                <a:solidFill>
                  <a:srgbClr val="F0F0EB"/>
                </a:solidFill>
                <a:latin typeface="Fira Sans Extra Condensed"/>
              </a:rPr>
              <a:t>Why</a:t>
            </a:r>
            <a:r>
              <a:rPr sz="17200" b="1" dirty="0">
                <a:solidFill>
                  <a:srgbClr val="F0F0EB"/>
                </a:solidFill>
                <a:latin typeface="Fira Sans Extra Condensed"/>
              </a:rPr>
              <a:t> </a:t>
            </a:r>
            <a:r>
              <a:rPr sz="17200" b="1" dirty="0">
                <a:solidFill>
                  <a:srgbClr val="FADE4B"/>
                </a:solidFill>
                <a:latin typeface="Fira Sans Extra Condensed"/>
              </a:rPr>
              <a:t>now</a:t>
            </a:r>
            <a:r>
              <a:rPr lang="en-US" sz="17200" b="1" dirty="0">
                <a:solidFill>
                  <a:srgbClr val="F0F0EB"/>
                </a:solidFill>
                <a:latin typeface="Fira Sans Extra Condensed"/>
              </a:rPr>
              <a:t>?</a:t>
            </a:r>
            <a:endParaRPr sz="17200" b="1" dirty="0">
              <a:solidFill>
                <a:srgbClr val="F0F0EB"/>
              </a:solidFill>
              <a:latin typeface="Fira Sans Extra Condensed"/>
            </a:endParaRPr>
          </a:p>
        </p:txBody>
      </p:sp>
      <p:sp>
        <p:nvSpPr>
          <p:cNvPr id="5" name="TextBox 4"/>
          <p:cNvSpPr txBox="1"/>
          <p:nvPr/>
        </p:nvSpPr>
        <p:spPr>
          <a:xfrm>
            <a:off x="365760" y="4526280"/>
            <a:ext cx="7315200" cy="274320"/>
          </a:xfrm>
          <a:prstGeom prst="rect">
            <a:avLst/>
          </a:prstGeom>
          <a:noFill/>
        </p:spPr>
        <p:txBody>
          <a:bodyPr wrap="square" lIns="0" tIns="0" rIns="0" bIns="0" anchor="t">
            <a:spAutoFit/>
          </a:bodyPr>
          <a:lstStyle/>
          <a:p>
            <a:pPr algn="l"/>
            <a:r>
              <a:rPr sz="1100" b="0">
                <a:solidFill>
                  <a:srgbClr val="F0F0EB"/>
                </a:solidFill>
                <a:latin typeface="Fira Code"/>
              </a:rPr>
              <a:t>THE STATE OF AI AT THE WEATHER COMPANY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365760" y="365760"/>
            <a:ext cx="3657600" cy="182880"/>
          </a:xfrm>
          <a:prstGeom prst="rect">
            <a:avLst/>
          </a:prstGeom>
          <a:noFill/>
        </p:spPr>
        <p:txBody>
          <a:bodyPr wrap="square" lIns="0" tIns="0" rIns="0" bIns="0" anchor="t">
            <a:spAutoFit/>
          </a:bodyPr>
          <a:lstStyle/>
          <a:p>
            <a:pPr algn="l"/>
            <a:r>
              <a:rPr sz="900" b="0">
                <a:solidFill>
                  <a:srgbClr val="FB00FF"/>
                </a:solidFill>
                <a:latin typeface="Fira Code"/>
              </a:rPr>
              <a:t>01 — STRATEGY</a:t>
            </a:r>
          </a:p>
        </p:txBody>
      </p:sp>
      <p:sp>
        <p:nvSpPr>
          <p:cNvPr id="3" name="TextBox 2"/>
          <p:cNvSpPr txBox="1"/>
          <p:nvPr/>
        </p:nvSpPr>
        <p:spPr>
          <a:xfrm>
            <a:off x="365760" y="777240"/>
            <a:ext cx="8412480" cy="777240"/>
          </a:xfrm>
          <a:prstGeom prst="rect">
            <a:avLst/>
          </a:prstGeom>
          <a:noFill/>
        </p:spPr>
        <p:txBody>
          <a:bodyPr wrap="square" lIns="0" tIns="0" rIns="0" bIns="0" anchor="t">
            <a:spAutoFit/>
          </a:bodyPr>
          <a:lstStyle/>
          <a:p>
            <a:pPr algn="l"/>
            <a:r>
              <a:rPr sz="4400" b="1">
                <a:solidFill>
                  <a:srgbClr val="292929"/>
                </a:solidFill>
                <a:latin typeface="Fira Sans Extra Condensed"/>
              </a:rPr>
              <a:t>A three-year AI commitment</a:t>
            </a:r>
          </a:p>
        </p:txBody>
      </p:sp>
      <p:sp>
        <p:nvSpPr>
          <p:cNvPr id="4" name="Rectangle 3"/>
          <p:cNvSpPr/>
          <p:nvPr/>
        </p:nvSpPr>
        <p:spPr>
          <a:xfrm>
            <a:off x="365760" y="1691640"/>
            <a:ext cx="548640" cy="36576"/>
          </a:xfrm>
          <a:prstGeom prst="rect">
            <a:avLst/>
          </a:prstGeom>
          <a:solidFill>
            <a:srgbClr val="FAD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accent4">
                  <a:lumMod val="75000"/>
                </a:schemeClr>
              </a:solidFill>
            </a:endParaRPr>
          </a:p>
        </p:txBody>
      </p:sp>
      <p:sp>
        <p:nvSpPr>
          <p:cNvPr id="5" name="TextBox 4"/>
          <p:cNvSpPr txBox="1"/>
          <p:nvPr/>
        </p:nvSpPr>
        <p:spPr>
          <a:xfrm>
            <a:off x="365760" y="2011680"/>
            <a:ext cx="4937760" cy="2743200"/>
          </a:xfrm>
          <a:prstGeom prst="rect">
            <a:avLst/>
          </a:prstGeom>
          <a:noFill/>
        </p:spPr>
        <p:txBody>
          <a:bodyPr wrap="square" lIns="0" tIns="0" rIns="0" bIns="0" anchor="t">
            <a:spAutoFit/>
          </a:bodyPr>
          <a:lstStyle/>
          <a:p>
            <a:pPr algn="l"/>
            <a:r>
              <a:rPr sz="1400" b="0">
                <a:solidFill>
                  <a:srgbClr val="292929"/>
                </a:solidFill>
                <a:latin typeface="Fira Sans Extra Condensed"/>
              </a:rPr>
              <a:t>By 2029, every team will have AI in their daily workflow — not as a novelty, but as core infrastructure. The investment spans three tracks: tooling, training, and culture.
This is about reaching further than we ever could before — with the same people, working faster, with less friction.</a:t>
            </a:r>
          </a:p>
        </p:txBody>
      </p:sp>
      <p:sp>
        <p:nvSpPr>
          <p:cNvPr id="6" name="Rectangle 5"/>
          <p:cNvSpPr/>
          <p:nvPr/>
        </p:nvSpPr>
        <p:spPr>
          <a:xfrm>
            <a:off x="5852160" y="2011680"/>
            <a:ext cx="2926080" cy="2377440"/>
          </a:xfrm>
          <a:prstGeom prst="rect">
            <a:avLst/>
          </a:prstGeom>
          <a:solidFill>
            <a:srgbClr val="FAD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solidFill>
                <a:schemeClr val="accent5"/>
              </a:solidFill>
            </a:endParaRPr>
          </a:p>
        </p:txBody>
      </p:sp>
      <p:sp>
        <p:nvSpPr>
          <p:cNvPr id="7" name="TextBox 6"/>
          <p:cNvSpPr txBox="1"/>
          <p:nvPr/>
        </p:nvSpPr>
        <p:spPr>
          <a:xfrm>
            <a:off x="6035040" y="2148840"/>
            <a:ext cx="2560320" cy="138499"/>
          </a:xfrm>
          <a:prstGeom prst="rect">
            <a:avLst/>
          </a:prstGeom>
          <a:noFill/>
        </p:spPr>
        <p:txBody>
          <a:bodyPr wrap="square" lIns="0" tIns="0" rIns="0" bIns="0" anchor="t">
            <a:spAutoFit/>
          </a:bodyPr>
          <a:lstStyle/>
          <a:p>
            <a:pPr algn="l"/>
            <a:r>
              <a:rPr sz="900" b="0" dirty="0">
                <a:solidFill>
                  <a:schemeClr val="accent5"/>
                </a:solidFill>
                <a:latin typeface="Fira Code"/>
              </a:rPr>
              <a:t>BY 2029</a:t>
            </a:r>
          </a:p>
        </p:txBody>
      </p:sp>
      <p:sp>
        <p:nvSpPr>
          <p:cNvPr id="8" name="TextBox 7"/>
          <p:cNvSpPr txBox="1"/>
          <p:nvPr/>
        </p:nvSpPr>
        <p:spPr>
          <a:xfrm>
            <a:off x="6035040" y="2423160"/>
            <a:ext cx="2560320" cy="1107996"/>
          </a:xfrm>
          <a:prstGeom prst="rect">
            <a:avLst/>
          </a:prstGeom>
          <a:noFill/>
        </p:spPr>
        <p:txBody>
          <a:bodyPr wrap="square" lIns="0" tIns="0" rIns="0" bIns="0" anchor="t">
            <a:spAutoFit/>
          </a:bodyPr>
          <a:lstStyle/>
          <a:p>
            <a:pPr algn="l"/>
            <a:r>
              <a:rPr sz="7200" b="1" dirty="0">
                <a:solidFill>
                  <a:schemeClr val="accent5"/>
                </a:solidFill>
                <a:latin typeface="Fira Sans Extra Condensed"/>
              </a:rPr>
              <a:t>$40M</a:t>
            </a:r>
          </a:p>
        </p:txBody>
      </p:sp>
      <p:sp>
        <p:nvSpPr>
          <p:cNvPr id="9" name="TextBox 8"/>
          <p:cNvSpPr txBox="1"/>
          <p:nvPr/>
        </p:nvSpPr>
        <p:spPr>
          <a:xfrm>
            <a:off x="6035040" y="3657600"/>
            <a:ext cx="2560320" cy="369332"/>
          </a:xfrm>
          <a:prstGeom prst="rect">
            <a:avLst/>
          </a:prstGeom>
          <a:noFill/>
        </p:spPr>
        <p:txBody>
          <a:bodyPr wrap="square" lIns="0" tIns="0" rIns="0" bIns="0" anchor="t">
            <a:spAutoFit/>
          </a:bodyPr>
          <a:lstStyle/>
          <a:p>
            <a:pPr algn="l"/>
            <a:r>
              <a:rPr sz="1200" b="0" dirty="0">
                <a:solidFill>
                  <a:schemeClr val="accent5"/>
                </a:solidFill>
                <a:latin typeface="Fira Sans Extra Condensed"/>
              </a:rPr>
              <a:t>invested across tooling, training, and culture.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p:cNvSpPr/>
          <p:nvPr/>
        </p:nvSpPr>
        <p:spPr>
          <a:xfrm>
            <a:off x="0" y="0"/>
            <a:ext cx="4572000" cy="5143500"/>
          </a:xfrm>
          <a:prstGeom prst="rect">
            <a:avLst/>
          </a:prstGeom>
          <a:solidFill>
            <a:srgbClr val="00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 name="Picture 2" descr="converging_dark.png"/>
          <p:cNvPicPr>
            <a:picLocks noChangeAspect="1"/>
          </p:cNvPicPr>
          <p:nvPr/>
        </p:nvPicPr>
        <p:blipFill>
          <a:blip r:embed="rId3"/>
          <a:srcRect l="32207" r="24206"/>
          <a:stretch>
            <a:fillRect/>
          </a:stretch>
        </p:blipFill>
        <p:spPr>
          <a:xfrm>
            <a:off x="0" y="-50578"/>
            <a:ext cx="4572000" cy="5244656"/>
          </a:xfrm>
          <a:prstGeom prst="rect">
            <a:avLst/>
          </a:prstGeom>
        </p:spPr>
      </p:pic>
      <p:sp>
        <p:nvSpPr>
          <p:cNvPr id="4" name="Rectangle 3"/>
          <p:cNvSpPr/>
          <p:nvPr/>
        </p:nvSpPr>
        <p:spPr>
          <a:xfrm>
            <a:off x="548640" y="914400"/>
            <a:ext cx="3474720" cy="3291840"/>
          </a:xfrm>
          <a:prstGeom prst="rect">
            <a:avLst/>
          </a:prstGeom>
          <a:solidFill>
            <a:srgbClr val="F0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48640" y="2454657"/>
            <a:ext cx="3474720" cy="274320"/>
          </a:xfrm>
          <a:prstGeom prst="rect">
            <a:avLst/>
          </a:prstGeom>
          <a:noFill/>
        </p:spPr>
        <p:txBody>
          <a:bodyPr wrap="square" lIns="0" tIns="0" rIns="0" bIns="0" anchor="t">
            <a:spAutoFit/>
          </a:bodyPr>
          <a:lstStyle/>
          <a:p>
            <a:pPr algn="ctr"/>
            <a:r>
              <a:rPr sz="1000" b="0" dirty="0">
                <a:solidFill>
                  <a:srgbClr val="292929"/>
                </a:solidFill>
                <a:latin typeface="Fira Code"/>
              </a:rPr>
              <a:t>[ image / demo ]</a:t>
            </a:r>
          </a:p>
        </p:txBody>
      </p:sp>
      <p:sp>
        <p:nvSpPr>
          <p:cNvPr id="6" name="TextBox 5"/>
          <p:cNvSpPr txBox="1"/>
          <p:nvPr/>
        </p:nvSpPr>
        <p:spPr>
          <a:xfrm>
            <a:off x="4937760" y="457200"/>
            <a:ext cx="3657600" cy="182880"/>
          </a:xfrm>
          <a:prstGeom prst="rect">
            <a:avLst/>
          </a:prstGeom>
          <a:noFill/>
        </p:spPr>
        <p:txBody>
          <a:bodyPr wrap="square" lIns="0" tIns="0" rIns="0" bIns="0" anchor="t">
            <a:spAutoFit/>
          </a:bodyPr>
          <a:lstStyle/>
          <a:p>
            <a:pPr algn="l"/>
            <a:r>
              <a:rPr sz="900" b="0">
                <a:solidFill>
                  <a:srgbClr val="0062FF"/>
                </a:solidFill>
                <a:latin typeface="Fira Code"/>
              </a:rPr>
              <a:t>02 — DEMO</a:t>
            </a:r>
          </a:p>
        </p:txBody>
      </p:sp>
      <p:sp>
        <p:nvSpPr>
          <p:cNvPr id="7" name="TextBox 6"/>
          <p:cNvSpPr txBox="1"/>
          <p:nvPr/>
        </p:nvSpPr>
        <p:spPr>
          <a:xfrm>
            <a:off x="4937760" y="868680"/>
            <a:ext cx="4023360" cy="1463040"/>
          </a:xfrm>
          <a:prstGeom prst="rect">
            <a:avLst/>
          </a:prstGeom>
          <a:noFill/>
        </p:spPr>
        <p:txBody>
          <a:bodyPr wrap="square" lIns="0" tIns="0" rIns="0" bIns="0" anchor="t">
            <a:spAutoFit/>
          </a:bodyPr>
          <a:lstStyle/>
          <a:p>
            <a:pPr algn="l"/>
            <a:r>
              <a:rPr sz="3800" b="1">
                <a:solidFill>
                  <a:srgbClr val="292929"/>
                </a:solidFill>
                <a:latin typeface="Fira Sans Extra Condensed"/>
              </a:rPr>
              <a:t>Forecasting,
rewritten </a:t>
            </a:r>
            <a:r>
              <a:rPr sz="3800" b="1">
                <a:solidFill>
                  <a:srgbClr val="0062FF"/>
                </a:solidFill>
                <a:latin typeface="Fira Sans Extra Condensed"/>
              </a:rPr>
              <a:t>by AI</a:t>
            </a:r>
            <a:r>
              <a:rPr sz="3800" b="1">
                <a:solidFill>
                  <a:srgbClr val="292929"/>
                </a:solidFill>
                <a:latin typeface="Fira Sans Extra Condensed"/>
              </a:rPr>
              <a:t>.</a:t>
            </a:r>
          </a:p>
        </p:txBody>
      </p:sp>
      <p:sp>
        <p:nvSpPr>
          <p:cNvPr id="8" name="Rectangle 7"/>
          <p:cNvSpPr/>
          <p:nvPr/>
        </p:nvSpPr>
        <p:spPr>
          <a:xfrm>
            <a:off x="4937760" y="2743200"/>
            <a:ext cx="457200" cy="36576"/>
          </a:xfrm>
          <a:prstGeom prst="rect">
            <a:avLst/>
          </a:prstGeom>
          <a:solidFill>
            <a:srgbClr val="00B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937760" y="2926080"/>
            <a:ext cx="4023360" cy="1828800"/>
          </a:xfrm>
          <a:prstGeom prst="rect">
            <a:avLst/>
          </a:prstGeom>
          <a:noFill/>
        </p:spPr>
        <p:txBody>
          <a:bodyPr wrap="square" lIns="0" tIns="0" rIns="0" bIns="0" anchor="t">
            <a:spAutoFit/>
          </a:bodyPr>
          <a:lstStyle/>
          <a:p>
            <a:pPr algn="l"/>
            <a:r>
              <a:rPr sz="1200" b="0">
                <a:solidFill>
                  <a:srgbClr val="292929"/>
                </a:solidFill>
                <a:latin typeface="Fira Sans Extra Condensed"/>
              </a:rPr>
              <a:t>A walkthrough of how the forecasting team is using AI to compress two-day workflows into 15 minutes — without losing meteorological accuracy.</a:t>
            </a:r>
          </a:p>
        </p:txBody>
      </p:sp>
      <p:sp>
        <p:nvSpPr>
          <p:cNvPr id="10" name="TextBox 9"/>
          <p:cNvSpPr txBox="1"/>
          <p:nvPr/>
        </p:nvSpPr>
        <p:spPr>
          <a:xfrm>
            <a:off x="4937760" y="4572000"/>
            <a:ext cx="3657600" cy="228600"/>
          </a:xfrm>
          <a:prstGeom prst="rect">
            <a:avLst/>
          </a:prstGeom>
          <a:noFill/>
        </p:spPr>
        <p:txBody>
          <a:bodyPr wrap="square" lIns="0" tIns="0" rIns="0" bIns="0" anchor="t">
            <a:spAutoFit/>
          </a:bodyPr>
          <a:lstStyle/>
          <a:p>
            <a:pPr algn="l"/>
            <a:r>
              <a:rPr sz="900" b="0">
                <a:solidFill>
                  <a:srgbClr val="292929"/>
                </a:solidFill>
                <a:latin typeface="Fira Code"/>
              </a:rPr>
              <a:t>HOST PRESENTER NAME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365760" y="365760"/>
            <a:ext cx="3657600" cy="182880"/>
          </a:xfrm>
          <a:prstGeom prst="rect">
            <a:avLst/>
          </a:prstGeom>
          <a:noFill/>
        </p:spPr>
        <p:txBody>
          <a:bodyPr wrap="square" lIns="0" tIns="0" rIns="0" bIns="0" anchor="t">
            <a:spAutoFit/>
          </a:bodyPr>
          <a:lstStyle/>
          <a:p>
            <a:pPr algn="l"/>
            <a:r>
              <a:rPr sz="900" b="0">
                <a:solidFill>
                  <a:srgbClr val="292929"/>
                </a:solidFill>
                <a:latin typeface="Fira Code"/>
              </a:rPr>
              <a:t>03 — COMPARISON</a:t>
            </a:r>
          </a:p>
        </p:txBody>
      </p:sp>
      <p:sp>
        <p:nvSpPr>
          <p:cNvPr id="3" name="TextBox 2"/>
          <p:cNvSpPr txBox="1"/>
          <p:nvPr/>
        </p:nvSpPr>
        <p:spPr>
          <a:xfrm>
            <a:off x="365760" y="777240"/>
            <a:ext cx="8229600" cy="777240"/>
          </a:xfrm>
          <a:prstGeom prst="rect">
            <a:avLst/>
          </a:prstGeom>
          <a:noFill/>
        </p:spPr>
        <p:txBody>
          <a:bodyPr wrap="square" lIns="0" tIns="0" rIns="0" bIns="0" anchor="t">
            <a:spAutoFit/>
          </a:bodyPr>
          <a:lstStyle/>
          <a:p>
            <a:pPr algn="l"/>
            <a:r>
              <a:rPr sz="4200" b="1">
                <a:solidFill>
                  <a:srgbClr val="292929"/>
                </a:solidFill>
                <a:latin typeface="Fira Sans Extra Condensed"/>
              </a:rPr>
              <a:t>Before / After AI</a:t>
            </a:r>
          </a:p>
        </p:txBody>
      </p:sp>
      <p:sp>
        <p:nvSpPr>
          <p:cNvPr id="4" name="Rectangle 3"/>
          <p:cNvSpPr/>
          <p:nvPr/>
        </p:nvSpPr>
        <p:spPr>
          <a:xfrm>
            <a:off x="365760" y="1691640"/>
            <a:ext cx="548640" cy="36576"/>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2011680"/>
            <a:ext cx="4114800" cy="2651760"/>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48640" y="2148840"/>
            <a:ext cx="3657600" cy="228600"/>
          </a:xfrm>
          <a:prstGeom prst="rect">
            <a:avLst/>
          </a:prstGeom>
          <a:noFill/>
        </p:spPr>
        <p:txBody>
          <a:bodyPr wrap="square" lIns="0" tIns="0" rIns="0" bIns="0" anchor="t">
            <a:spAutoFit/>
          </a:bodyPr>
          <a:lstStyle/>
          <a:p>
            <a:pPr algn="l"/>
            <a:r>
              <a:rPr sz="1000" b="0">
                <a:solidFill>
                  <a:srgbClr val="F4DC52"/>
                </a:solidFill>
                <a:latin typeface="Fira Code"/>
              </a:rPr>
              <a:t>BEFORE</a:t>
            </a:r>
          </a:p>
        </p:txBody>
      </p:sp>
      <p:sp>
        <p:nvSpPr>
          <p:cNvPr id="7" name="TextBox 6"/>
          <p:cNvSpPr txBox="1"/>
          <p:nvPr/>
        </p:nvSpPr>
        <p:spPr>
          <a:xfrm>
            <a:off x="548640" y="2423160"/>
            <a:ext cx="3657600" cy="1005840"/>
          </a:xfrm>
          <a:prstGeom prst="rect">
            <a:avLst/>
          </a:prstGeom>
          <a:noFill/>
        </p:spPr>
        <p:txBody>
          <a:bodyPr wrap="square" lIns="0" tIns="0" rIns="0" bIns="0" anchor="t">
            <a:spAutoFit/>
          </a:bodyPr>
          <a:lstStyle/>
          <a:p>
            <a:pPr algn="l"/>
            <a:r>
              <a:rPr sz="6000" b="1">
                <a:solidFill>
                  <a:srgbClr val="F0F0EB"/>
                </a:solidFill>
                <a:latin typeface="Fira Sans Extra Condensed"/>
              </a:rPr>
              <a:t>2 days</a:t>
            </a:r>
          </a:p>
        </p:txBody>
      </p:sp>
      <p:sp>
        <p:nvSpPr>
          <p:cNvPr id="8" name="TextBox 7"/>
          <p:cNvSpPr txBox="1"/>
          <p:nvPr/>
        </p:nvSpPr>
        <p:spPr>
          <a:xfrm>
            <a:off x="548640" y="3520440"/>
            <a:ext cx="3657600" cy="1097280"/>
          </a:xfrm>
          <a:prstGeom prst="rect">
            <a:avLst/>
          </a:prstGeom>
          <a:noFill/>
        </p:spPr>
        <p:txBody>
          <a:bodyPr wrap="square" lIns="0" tIns="0" rIns="0" bIns="0" anchor="t">
            <a:spAutoFit/>
          </a:bodyPr>
          <a:lstStyle/>
          <a:p>
            <a:pPr algn="l"/>
            <a:r>
              <a:rPr sz="1200" b="0">
                <a:solidFill>
                  <a:srgbClr val="F0F0EB"/>
                </a:solidFill>
                <a:latin typeface="Fira Sans Extra Condensed"/>
              </a:rPr>
              <a:t>Manual data review across six systems, with multiple handoffs and reconciliation steps.</a:t>
            </a:r>
          </a:p>
        </p:txBody>
      </p:sp>
      <p:sp>
        <p:nvSpPr>
          <p:cNvPr id="9" name="Rectangle 8"/>
          <p:cNvSpPr/>
          <p:nvPr/>
        </p:nvSpPr>
        <p:spPr>
          <a:xfrm>
            <a:off x="4663440" y="2011680"/>
            <a:ext cx="4114800" cy="265176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846320" y="2148840"/>
            <a:ext cx="3657600" cy="153888"/>
          </a:xfrm>
          <a:prstGeom prst="rect">
            <a:avLst/>
          </a:prstGeom>
          <a:noFill/>
        </p:spPr>
        <p:txBody>
          <a:bodyPr wrap="square" lIns="0" tIns="0" rIns="0" bIns="0" anchor="t">
            <a:spAutoFit/>
          </a:bodyPr>
          <a:lstStyle/>
          <a:p>
            <a:pPr algn="l"/>
            <a:r>
              <a:rPr sz="1000" b="0" dirty="0">
                <a:solidFill>
                  <a:srgbClr val="66FBE1"/>
                </a:solidFill>
                <a:latin typeface="Fira Code"/>
              </a:rPr>
              <a:t>AFTER</a:t>
            </a:r>
          </a:p>
        </p:txBody>
      </p:sp>
      <p:sp>
        <p:nvSpPr>
          <p:cNvPr id="11" name="TextBox 10"/>
          <p:cNvSpPr txBox="1"/>
          <p:nvPr/>
        </p:nvSpPr>
        <p:spPr>
          <a:xfrm>
            <a:off x="4846320" y="2423160"/>
            <a:ext cx="3657600" cy="923330"/>
          </a:xfrm>
          <a:prstGeom prst="rect">
            <a:avLst/>
          </a:prstGeom>
          <a:noFill/>
        </p:spPr>
        <p:txBody>
          <a:bodyPr wrap="square" lIns="0" tIns="0" rIns="0" bIns="0" anchor="t">
            <a:spAutoFit/>
          </a:bodyPr>
          <a:lstStyle/>
          <a:p>
            <a:pPr algn="l"/>
            <a:r>
              <a:rPr sz="6000" b="1">
                <a:solidFill>
                  <a:schemeClr val="bg1"/>
                </a:solidFill>
                <a:latin typeface="Fira Sans Extra Condensed"/>
              </a:rPr>
              <a:t>15 min</a:t>
            </a:r>
          </a:p>
        </p:txBody>
      </p:sp>
      <p:sp>
        <p:nvSpPr>
          <p:cNvPr id="12" name="TextBox 11"/>
          <p:cNvSpPr txBox="1"/>
          <p:nvPr/>
        </p:nvSpPr>
        <p:spPr>
          <a:xfrm>
            <a:off x="4846320" y="3520440"/>
            <a:ext cx="3657600" cy="369332"/>
          </a:xfrm>
          <a:prstGeom prst="rect">
            <a:avLst/>
          </a:prstGeom>
          <a:noFill/>
        </p:spPr>
        <p:txBody>
          <a:bodyPr wrap="square" lIns="0" tIns="0" rIns="0" bIns="0" anchor="t">
            <a:spAutoFit/>
          </a:bodyPr>
          <a:lstStyle/>
          <a:p>
            <a:pPr algn="l"/>
            <a:r>
              <a:rPr sz="1200" b="0">
                <a:solidFill>
                  <a:schemeClr val="bg1"/>
                </a:solidFill>
                <a:latin typeface="Fira Sans Extra Condensed"/>
              </a:rPr>
              <a:t>Unified agent surface, single review, automated reconciliation. Same accuracy.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365760" y="365760"/>
            <a:ext cx="3657600" cy="182880"/>
          </a:xfrm>
          <a:prstGeom prst="rect">
            <a:avLst/>
          </a:prstGeom>
          <a:noFill/>
        </p:spPr>
        <p:txBody>
          <a:bodyPr wrap="square" lIns="0" tIns="0" rIns="0" bIns="0" anchor="t">
            <a:spAutoFit/>
          </a:bodyPr>
          <a:lstStyle/>
          <a:p>
            <a:pPr algn="l"/>
            <a:r>
              <a:rPr sz="900" b="0">
                <a:solidFill>
                  <a:srgbClr val="46125B"/>
                </a:solidFill>
                <a:latin typeface="Fira Code"/>
              </a:rPr>
              <a:t>04 — DETAIL</a:t>
            </a:r>
          </a:p>
        </p:txBody>
      </p:sp>
      <p:sp>
        <p:nvSpPr>
          <p:cNvPr id="3" name="TextBox 2"/>
          <p:cNvSpPr txBox="1"/>
          <p:nvPr/>
        </p:nvSpPr>
        <p:spPr>
          <a:xfrm>
            <a:off x="365760" y="777240"/>
            <a:ext cx="8229600" cy="777240"/>
          </a:xfrm>
          <a:prstGeom prst="rect">
            <a:avLst/>
          </a:prstGeom>
          <a:noFill/>
        </p:spPr>
        <p:txBody>
          <a:bodyPr wrap="square" lIns="0" tIns="0" rIns="0" bIns="0" anchor="t">
            <a:spAutoFit/>
          </a:bodyPr>
          <a:lstStyle/>
          <a:p>
            <a:pPr algn="l"/>
            <a:r>
              <a:rPr sz="3600" b="1">
                <a:solidFill>
                  <a:srgbClr val="292929"/>
                </a:solidFill>
                <a:latin typeface="Fira Sans Extra Condensed"/>
              </a:rPr>
              <a:t>Two perspectives, one direction</a:t>
            </a:r>
          </a:p>
        </p:txBody>
      </p:sp>
      <p:sp>
        <p:nvSpPr>
          <p:cNvPr id="4" name="Rectangle 3"/>
          <p:cNvSpPr/>
          <p:nvPr/>
        </p:nvSpPr>
        <p:spPr>
          <a:xfrm>
            <a:off x="365760" y="1600200"/>
            <a:ext cx="548640" cy="36576"/>
          </a:xfrm>
          <a:prstGeom prst="rect">
            <a:avLst/>
          </a:prstGeom>
          <a:solidFill>
            <a:srgbClr val="FAD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965960"/>
            <a:ext cx="4023360" cy="274320"/>
          </a:xfrm>
          <a:prstGeom prst="rect">
            <a:avLst/>
          </a:prstGeom>
          <a:noFill/>
        </p:spPr>
        <p:txBody>
          <a:bodyPr wrap="square" lIns="0" tIns="0" rIns="0" bIns="0" anchor="t">
            <a:spAutoFit/>
          </a:bodyPr>
          <a:lstStyle/>
          <a:p>
            <a:pPr algn="l"/>
            <a:r>
              <a:rPr sz="1000" b="0">
                <a:solidFill>
                  <a:srgbClr val="46125B"/>
                </a:solidFill>
                <a:latin typeface="Fira Code"/>
              </a:rPr>
              <a:t>WHAT WE'RE BUILDING</a:t>
            </a:r>
          </a:p>
        </p:txBody>
      </p:sp>
      <p:sp>
        <p:nvSpPr>
          <p:cNvPr id="6" name="TextBox 5"/>
          <p:cNvSpPr txBox="1"/>
          <p:nvPr/>
        </p:nvSpPr>
        <p:spPr>
          <a:xfrm>
            <a:off x="365760" y="2331720"/>
            <a:ext cx="4023360" cy="457200"/>
          </a:xfrm>
          <a:prstGeom prst="rect">
            <a:avLst/>
          </a:prstGeom>
          <a:noFill/>
        </p:spPr>
        <p:txBody>
          <a:bodyPr wrap="square" lIns="0" tIns="0" rIns="0" bIns="0" anchor="t">
            <a:spAutoFit/>
          </a:bodyPr>
          <a:lstStyle/>
          <a:p>
            <a:pPr algn="l"/>
            <a:r>
              <a:rPr sz="2200" b="1">
                <a:solidFill>
                  <a:srgbClr val="292929"/>
                </a:solidFill>
                <a:latin typeface="Fira Sans Extra Condensed"/>
              </a:rPr>
              <a:t>Tooling first.</a:t>
            </a:r>
          </a:p>
        </p:txBody>
      </p:sp>
      <p:sp>
        <p:nvSpPr>
          <p:cNvPr id="7" name="TextBox 6"/>
          <p:cNvSpPr txBox="1"/>
          <p:nvPr/>
        </p:nvSpPr>
        <p:spPr>
          <a:xfrm>
            <a:off x="365760" y="2880360"/>
            <a:ext cx="4023360" cy="1737360"/>
          </a:xfrm>
          <a:prstGeom prst="rect">
            <a:avLst/>
          </a:prstGeom>
          <a:noFill/>
        </p:spPr>
        <p:txBody>
          <a:bodyPr wrap="square" lIns="0" tIns="0" rIns="0" bIns="0" anchor="t">
            <a:spAutoFit/>
          </a:bodyPr>
          <a:lstStyle/>
          <a:p>
            <a:pPr algn="l"/>
            <a:r>
              <a:rPr sz="1200" b="0">
                <a:solidFill>
                  <a:srgbClr val="292929"/>
                </a:solidFill>
                <a:latin typeface="Fira Sans Extra Condensed"/>
              </a:rPr>
              <a:t>AI shouldn't live in a separate tab, waiting for you to remember it. We're embedding it where the work already happens — in your editor, your forecast pipeline, your design files, your meeting notes. The bar is shorter loops: question to answer, draft to ship, idea to prototype.</a:t>
            </a:r>
          </a:p>
        </p:txBody>
      </p:sp>
      <p:sp>
        <p:nvSpPr>
          <p:cNvPr id="8" name="TextBox 7"/>
          <p:cNvSpPr txBox="1"/>
          <p:nvPr/>
        </p:nvSpPr>
        <p:spPr>
          <a:xfrm>
            <a:off x="4754880" y="1965960"/>
            <a:ext cx="4023360" cy="274320"/>
          </a:xfrm>
          <a:prstGeom prst="rect">
            <a:avLst/>
          </a:prstGeom>
          <a:noFill/>
        </p:spPr>
        <p:txBody>
          <a:bodyPr wrap="square" lIns="0" tIns="0" rIns="0" bIns="0" anchor="t">
            <a:spAutoFit/>
          </a:bodyPr>
          <a:lstStyle/>
          <a:p>
            <a:pPr algn="l"/>
            <a:r>
              <a:rPr sz="1000" b="0">
                <a:solidFill>
                  <a:srgbClr val="46125B"/>
                </a:solidFill>
                <a:latin typeface="Fira Code"/>
              </a:rPr>
              <a:t>HOW WE'LL GET THERE</a:t>
            </a:r>
          </a:p>
        </p:txBody>
      </p:sp>
      <p:sp>
        <p:nvSpPr>
          <p:cNvPr id="9" name="TextBox 8"/>
          <p:cNvSpPr txBox="1"/>
          <p:nvPr/>
        </p:nvSpPr>
        <p:spPr>
          <a:xfrm>
            <a:off x="4754880" y="2331720"/>
            <a:ext cx="4023360" cy="457200"/>
          </a:xfrm>
          <a:prstGeom prst="rect">
            <a:avLst/>
          </a:prstGeom>
          <a:noFill/>
        </p:spPr>
        <p:txBody>
          <a:bodyPr wrap="square" lIns="0" tIns="0" rIns="0" bIns="0" anchor="t">
            <a:spAutoFit/>
          </a:bodyPr>
          <a:lstStyle/>
          <a:p>
            <a:pPr algn="l"/>
            <a:r>
              <a:rPr sz="2200" b="1">
                <a:solidFill>
                  <a:srgbClr val="292929"/>
                </a:solidFill>
                <a:latin typeface="Fira Sans Extra Condensed"/>
              </a:rPr>
              <a:t>Training second.</a:t>
            </a:r>
          </a:p>
        </p:txBody>
      </p:sp>
      <p:sp>
        <p:nvSpPr>
          <p:cNvPr id="10" name="TextBox 9"/>
          <p:cNvSpPr txBox="1"/>
          <p:nvPr/>
        </p:nvSpPr>
        <p:spPr>
          <a:xfrm>
            <a:off x="4754880" y="2880360"/>
            <a:ext cx="4023360" cy="1737360"/>
          </a:xfrm>
          <a:prstGeom prst="rect">
            <a:avLst/>
          </a:prstGeom>
          <a:noFill/>
        </p:spPr>
        <p:txBody>
          <a:bodyPr wrap="square" lIns="0" tIns="0" rIns="0" bIns="0" anchor="t">
            <a:spAutoFit/>
          </a:bodyPr>
          <a:lstStyle/>
          <a:p>
            <a:pPr algn="l"/>
            <a:r>
              <a:rPr sz="1200" b="0">
                <a:solidFill>
                  <a:srgbClr val="292929"/>
                </a:solidFill>
                <a:latin typeface="Fira Sans Extra Condensed"/>
              </a:rPr>
              <a:t>Sharper tools only help if we know how to use them. Every team gets dedicated time to learn, experiment, and share what's working. Wins compound when one team's workflow becomes another team's starting point — that's the multiplier we're after.</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sp>
        <p:nvSpPr>
          <p:cNvPr id="3" name="TextBox 2"/>
          <p:cNvSpPr txBox="1"/>
          <p:nvPr/>
        </p:nvSpPr>
        <p:spPr>
          <a:xfrm>
            <a:off x="365760" y="457200"/>
            <a:ext cx="1097280" cy="2462213"/>
          </a:xfrm>
          <a:prstGeom prst="rect">
            <a:avLst/>
          </a:prstGeom>
          <a:noFill/>
        </p:spPr>
        <p:txBody>
          <a:bodyPr wrap="square" lIns="0" tIns="0" rIns="0" bIns="0" anchor="t">
            <a:spAutoFit/>
          </a:bodyPr>
          <a:lstStyle/>
          <a:p>
            <a:pPr algn="l"/>
            <a:r>
              <a:rPr sz="16000" b="1" dirty="0">
                <a:solidFill>
                  <a:srgbClr val="FADE4B"/>
                </a:solidFill>
                <a:latin typeface="Fira Sans Extra Condensed"/>
              </a:rPr>
              <a:t>"</a:t>
            </a:r>
          </a:p>
        </p:txBody>
      </p:sp>
      <p:sp>
        <p:nvSpPr>
          <p:cNvPr id="4" name="TextBox 3"/>
          <p:cNvSpPr txBox="1"/>
          <p:nvPr/>
        </p:nvSpPr>
        <p:spPr>
          <a:xfrm>
            <a:off x="365760" y="1828800"/>
            <a:ext cx="8412480" cy="1477328"/>
          </a:xfrm>
          <a:prstGeom prst="rect">
            <a:avLst/>
          </a:prstGeom>
          <a:noFill/>
        </p:spPr>
        <p:txBody>
          <a:bodyPr wrap="square" lIns="0" tIns="0" rIns="0" bIns="0" anchor="t">
            <a:spAutoFit/>
          </a:bodyPr>
          <a:lstStyle/>
          <a:p>
            <a:pPr algn="l"/>
            <a:r>
              <a:rPr sz="3200" b="1" dirty="0">
                <a:solidFill>
                  <a:srgbClr val="F0F0EB"/>
                </a:solidFill>
                <a:latin typeface="Fira Sans Extra Condensed"/>
              </a:rPr>
              <a:t>The bar isn't whether AI </a:t>
            </a:r>
            <a:r>
              <a:rPr sz="3200" b="1" dirty="0">
                <a:solidFill>
                  <a:srgbClr val="FADE4B"/>
                </a:solidFill>
                <a:latin typeface="Fira Sans Extra Condensed"/>
              </a:rPr>
              <a:t>can</a:t>
            </a:r>
            <a:r>
              <a:rPr sz="3200" b="1" dirty="0">
                <a:solidFill>
                  <a:srgbClr val="F0F0EB"/>
                </a:solidFill>
                <a:latin typeface="Fira Sans Extra Condensed"/>
              </a:rPr>
              <a:t> do this. It's whether we can move fast enough to use it before it becomes obvious.</a:t>
            </a:r>
          </a:p>
        </p:txBody>
      </p:sp>
      <p:sp>
        <p:nvSpPr>
          <p:cNvPr id="5" name="Rectangle 4"/>
          <p:cNvSpPr/>
          <p:nvPr/>
        </p:nvSpPr>
        <p:spPr>
          <a:xfrm>
            <a:off x="365760" y="4434840"/>
            <a:ext cx="457200" cy="36576"/>
          </a:xfrm>
          <a:prstGeom prst="rect">
            <a:avLst/>
          </a:prstGeom>
          <a:solidFill>
            <a:srgbClr val="F4D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4526280"/>
            <a:ext cx="7315200" cy="274320"/>
          </a:xfrm>
          <a:prstGeom prst="rect">
            <a:avLst/>
          </a:prstGeom>
          <a:noFill/>
        </p:spPr>
        <p:txBody>
          <a:bodyPr wrap="square" lIns="0" tIns="0" rIns="0" bIns="0" anchor="t">
            <a:spAutoFit/>
          </a:bodyPr>
          <a:lstStyle/>
          <a:p>
            <a:pPr algn="l"/>
            <a:r>
              <a:rPr sz="1000" b="0">
                <a:solidFill>
                  <a:srgbClr val="F0F0EB"/>
                </a:solidFill>
                <a:latin typeface="Fira Code"/>
              </a:rPr>
              <a:t>EXECUTIVE LEADERSHIP — THE WEATHER COMPANY</a:t>
            </a:r>
          </a:p>
        </p:txBody>
      </p:sp>
      <p:pic>
        <p:nvPicPr>
          <p:cNvPr id="11" name="Picture 10">
            <a:extLst>
              <a:ext uri="{FF2B5EF4-FFF2-40B4-BE49-F238E27FC236}">
                <a16:creationId xmlns:a16="http://schemas.microsoft.com/office/drawing/2014/main" id="{525AC5E3-381D-4015-E7B7-F99B7B3E693F}"/>
              </a:ext>
            </a:extLst>
          </p:cNvPr>
          <p:cNvPicPr>
            <a:picLocks noChangeAspect="1"/>
          </p:cNvPicPr>
          <p:nvPr/>
        </p:nvPicPr>
        <p:blipFill>
          <a:blip r:embed="rId3"/>
          <a:stretch>
            <a:fillRect/>
          </a:stretch>
        </p:blipFill>
        <p:spPr>
          <a:xfrm rot="11279115" flipV="1">
            <a:off x="3249314" y="3669545"/>
            <a:ext cx="7738533" cy="1713472"/>
          </a:xfrm>
          <a:prstGeom prst="rect">
            <a:avLst/>
          </a:prstGeom>
        </p:spPr>
      </p:pic>
      <p:pic>
        <p:nvPicPr>
          <p:cNvPr id="2" name="Graphic 1">
            <a:extLst>
              <a:ext uri="{FF2B5EF4-FFF2-40B4-BE49-F238E27FC236}">
                <a16:creationId xmlns:a16="http://schemas.microsoft.com/office/drawing/2014/main" id="{2B505870-C6F9-490D-E42B-BF927C150602}"/>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rot="10800000">
            <a:off x="5247861" y="-1889133"/>
            <a:ext cx="3896139" cy="3107857"/>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365760" y="365760"/>
            <a:ext cx="3657600" cy="182880"/>
          </a:xfrm>
          <a:prstGeom prst="rect">
            <a:avLst/>
          </a:prstGeom>
          <a:noFill/>
        </p:spPr>
        <p:txBody>
          <a:bodyPr wrap="square" lIns="0" tIns="0" rIns="0" bIns="0" anchor="t">
            <a:spAutoFit/>
          </a:bodyPr>
          <a:lstStyle/>
          <a:p>
            <a:pPr algn="l"/>
            <a:r>
              <a:rPr sz="900" b="0">
                <a:solidFill>
                  <a:srgbClr val="292929"/>
                </a:solidFill>
                <a:latin typeface="Fira Code"/>
              </a:rPr>
              <a:t>LIVE DEMO</a:t>
            </a:r>
          </a:p>
        </p:txBody>
      </p:sp>
      <p:sp>
        <p:nvSpPr>
          <p:cNvPr id="3" name="Rectangle 2"/>
          <p:cNvSpPr/>
          <p:nvPr/>
        </p:nvSpPr>
        <p:spPr>
          <a:xfrm>
            <a:off x="365760" y="777240"/>
            <a:ext cx="164592" cy="164592"/>
          </a:xfrm>
          <a:prstGeom prst="rect">
            <a:avLst/>
          </a:prstGeom>
          <a:solidFill>
            <a:srgbClr val="FB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8613648" y="777240"/>
            <a:ext cx="164592" cy="164592"/>
          </a:xfrm>
          <a:prstGeom prst="rect">
            <a:avLst/>
          </a:prstGeom>
          <a:solidFill>
            <a:srgbClr val="FB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4430268"/>
            <a:ext cx="164592" cy="164592"/>
          </a:xfrm>
          <a:prstGeom prst="rect">
            <a:avLst/>
          </a:prstGeom>
          <a:solidFill>
            <a:srgbClr val="FB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613648" y="4430268"/>
            <a:ext cx="164592" cy="164592"/>
          </a:xfrm>
          <a:prstGeom prst="rect">
            <a:avLst/>
          </a:prstGeom>
          <a:solidFill>
            <a:srgbClr val="FB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2468880"/>
            <a:ext cx="8412480" cy="274320"/>
          </a:xfrm>
          <a:prstGeom prst="rect">
            <a:avLst/>
          </a:prstGeom>
          <a:noFill/>
        </p:spPr>
        <p:txBody>
          <a:bodyPr wrap="square" lIns="0" tIns="0" rIns="0" bIns="0" anchor="t">
            <a:spAutoFit/>
          </a:bodyPr>
          <a:lstStyle/>
          <a:p>
            <a:pPr algn="ctr"/>
            <a:r>
              <a:rPr sz="1000" b="0">
                <a:solidFill>
                  <a:srgbClr val="292929"/>
                </a:solidFill>
                <a:latin typeface="Fira Code"/>
              </a:rPr>
              <a:t>[ demo area — clear, no chrome ]</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62FF"/>
        </a:solidFill>
        <a:effectLst/>
      </p:bgPr>
    </p:bg>
    <p:spTree>
      <p:nvGrpSpPr>
        <p:cNvPr id="1" name=""/>
        <p:cNvGrpSpPr/>
        <p:nvPr/>
      </p:nvGrpSpPr>
      <p:grpSpPr>
        <a:xfrm>
          <a:off x="0" y="0"/>
          <a:ext cx="0" cy="0"/>
          <a:chOff x="0" y="0"/>
          <a:chExt cx="0" cy="0"/>
        </a:xfrm>
      </p:grpSpPr>
      <p:sp>
        <p:nvSpPr>
          <p:cNvPr id="2" name="TextBox 1"/>
          <p:cNvSpPr txBox="1"/>
          <p:nvPr/>
        </p:nvSpPr>
        <p:spPr>
          <a:xfrm>
            <a:off x="365760" y="365760"/>
            <a:ext cx="3657600" cy="182880"/>
          </a:xfrm>
          <a:prstGeom prst="rect">
            <a:avLst/>
          </a:prstGeom>
          <a:noFill/>
        </p:spPr>
        <p:txBody>
          <a:bodyPr wrap="square" lIns="0" tIns="0" rIns="0" bIns="0" anchor="t">
            <a:spAutoFit/>
          </a:bodyPr>
          <a:lstStyle/>
          <a:p>
            <a:pPr algn="l"/>
            <a:r>
              <a:rPr sz="900" b="0">
                <a:solidFill>
                  <a:srgbClr val="67FAE0"/>
                </a:solidFill>
                <a:latin typeface="Fira Code"/>
              </a:rPr>
              <a:t>04 — MOMENTUM</a:t>
            </a:r>
          </a:p>
        </p:txBody>
      </p:sp>
      <p:sp>
        <p:nvSpPr>
          <p:cNvPr id="3" name="TextBox 2"/>
          <p:cNvSpPr txBox="1"/>
          <p:nvPr/>
        </p:nvSpPr>
        <p:spPr>
          <a:xfrm>
            <a:off x="365760" y="481584"/>
            <a:ext cx="8412480" cy="4001095"/>
          </a:xfrm>
          <a:prstGeom prst="rect">
            <a:avLst/>
          </a:prstGeom>
          <a:noFill/>
        </p:spPr>
        <p:txBody>
          <a:bodyPr wrap="square" lIns="0" tIns="0" rIns="0" bIns="0" anchor="t">
            <a:spAutoFit/>
          </a:bodyPr>
          <a:lstStyle/>
          <a:p>
            <a:pPr algn="l"/>
            <a:r>
              <a:rPr lang="en-US" sz="26000" b="1" spc="-500" dirty="0">
                <a:solidFill>
                  <a:srgbClr val="67FAE0"/>
                </a:solidFill>
                <a:latin typeface="Fira Sans Extra Condensed"/>
              </a:rPr>
              <a:t>~</a:t>
            </a:r>
            <a:r>
              <a:rPr lang="en-US" sz="26000" b="1" spc="-500" dirty="0">
                <a:solidFill>
                  <a:schemeClr val="bg1"/>
                </a:solidFill>
                <a:latin typeface="Fira Sans Extra Condensed"/>
              </a:rPr>
              <a:t>830</a:t>
            </a:r>
            <a:endParaRPr sz="26000" b="1" spc="-500" dirty="0">
              <a:solidFill>
                <a:schemeClr val="bg1"/>
              </a:solidFill>
              <a:latin typeface="Fira Sans Extra Condensed"/>
            </a:endParaRPr>
          </a:p>
        </p:txBody>
      </p:sp>
      <p:sp>
        <p:nvSpPr>
          <p:cNvPr id="4" name="Rectangle 3"/>
          <p:cNvSpPr/>
          <p:nvPr/>
        </p:nvSpPr>
        <p:spPr>
          <a:xfrm>
            <a:off x="365760" y="4114800"/>
            <a:ext cx="548640" cy="36576"/>
          </a:xfrm>
          <a:prstGeom prst="rect">
            <a:avLst/>
          </a:prstGeom>
          <a:solidFill>
            <a:srgbClr val="67F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4251960"/>
            <a:ext cx="8412480" cy="365760"/>
          </a:xfrm>
          <a:prstGeom prst="rect">
            <a:avLst/>
          </a:prstGeom>
          <a:noFill/>
        </p:spPr>
        <p:txBody>
          <a:bodyPr wrap="square" lIns="0" tIns="0" rIns="0" bIns="0" anchor="t">
            <a:spAutoFit/>
          </a:bodyPr>
          <a:lstStyle/>
          <a:p>
            <a:pPr algn="l"/>
            <a:r>
              <a:rPr sz="2000" b="1">
                <a:solidFill>
                  <a:srgbClr val="F0F0EB"/>
                </a:solidFill>
                <a:latin typeface="Fira Sans Extra Condensed"/>
              </a:rPr>
              <a:t>Weather Company employees converging on AI Day</a:t>
            </a:r>
          </a:p>
        </p:txBody>
      </p:sp>
      <p:sp>
        <p:nvSpPr>
          <p:cNvPr id="6" name="TextBox 5"/>
          <p:cNvSpPr txBox="1"/>
          <p:nvPr/>
        </p:nvSpPr>
        <p:spPr>
          <a:xfrm>
            <a:off x="365760" y="4709160"/>
            <a:ext cx="8412480" cy="274320"/>
          </a:xfrm>
          <a:prstGeom prst="rect">
            <a:avLst/>
          </a:prstGeom>
          <a:noFill/>
        </p:spPr>
        <p:txBody>
          <a:bodyPr wrap="square" lIns="0" tIns="0" rIns="0" bIns="0" anchor="t">
            <a:spAutoFit/>
          </a:bodyPr>
          <a:lstStyle/>
          <a:p>
            <a:pPr algn="l"/>
            <a:r>
              <a:rPr sz="1000" b="0">
                <a:solidFill>
                  <a:srgbClr val="F0F0EB"/>
                </a:solidFill>
                <a:latin typeface="Fira Code"/>
              </a:rPr>
              <a:t>FIVE GLOBAL LOCATIONS — ONE COMMITMENT</a:t>
            </a:r>
          </a:p>
        </p:txBody>
      </p:sp>
      <p:pic>
        <p:nvPicPr>
          <p:cNvPr id="7" name="Graphic 6">
            <a:extLst>
              <a:ext uri="{FF2B5EF4-FFF2-40B4-BE49-F238E27FC236}">
                <a16:creationId xmlns:a16="http://schemas.microsoft.com/office/drawing/2014/main" id="{4DA73E0F-F2F8-98FD-E447-542D023908CE}"/>
              </a:ext>
            </a:extLst>
          </p:cNvPr>
          <p:cNvPicPr>
            <a:picLocks noChangeAspect="1"/>
          </p:cNvPicPr>
          <p:nvPr/>
        </p:nvPicPr>
        <p:blipFill>
          <a:blip>
            <a:alphaModFix amt="43000"/>
            <a:extLst>
              <a:ext uri="{96DAC541-7B7A-43D3-8B79-37D633B846F1}">
                <asvg:svgBlip xmlns:asvg="http://schemas.microsoft.com/office/drawing/2016/SVG/main" r:embed="rId3"/>
              </a:ext>
            </a:extLst>
          </a:blip>
          <a:stretch>
            <a:fillRect/>
          </a:stretch>
        </p:blipFill>
        <p:spPr>
          <a:xfrm rot="16200000">
            <a:off x="5621775" y="1621275"/>
            <a:ext cx="5143500" cy="19009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E0F9A73-670C-13F9-2104-590CFA61AADA}"/>
              </a:ext>
            </a:extLst>
          </p:cNvPr>
          <p:cNvPicPr>
            <a:picLocks noChangeAspect="1"/>
          </p:cNvPicPr>
          <p:nvPr/>
        </p:nvPicPr>
        <p:blipFill>
          <a:blip r:embed="rId3"/>
          <a:srcRect/>
          <a:stretch/>
        </p:blipFill>
        <p:spPr>
          <a:xfrm>
            <a:off x="-868279" y="1610978"/>
            <a:ext cx="10174885" cy="2252931"/>
          </a:xfrm>
          <a:prstGeom prst="rect">
            <a:avLst/>
          </a:prstGeom>
        </p:spPr>
      </p:pic>
      <p:sp>
        <p:nvSpPr>
          <p:cNvPr id="3" name="TextBox 2"/>
          <p:cNvSpPr txBox="1"/>
          <p:nvPr/>
        </p:nvSpPr>
        <p:spPr>
          <a:xfrm>
            <a:off x="365760" y="365760"/>
            <a:ext cx="3657600" cy="182880"/>
          </a:xfrm>
          <a:prstGeom prst="rect">
            <a:avLst/>
          </a:prstGeom>
          <a:noFill/>
        </p:spPr>
        <p:txBody>
          <a:bodyPr wrap="square" lIns="0" tIns="0" rIns="0" bIns="0">
            <a:spAutoFit/>
          </a:bodyPr>
          <a:lstStyle/>
          <a:p>
            <a:r>
              <a:rPr sz="900" b="0" spc="200">
                <a:solidFill>
                  <a:srgbClr val="F0F0EB"/>
                </a:solidFill>
                <a:latin typeface="Fira Code"/>
              </a:rPr>
              <a:t>07 — DEMO</a:t>
            </a:r>
          </a:p>
        </p:txBody>
      </p:sp>
      <p:sp>
        <p:nvSpPr>
          <p:cNvPr id="4" name="TextBox 3"/>
          <p:cNvSpPr txBox="1"/>
          <p:nvPr/>
        </p:nvSpPr>
        <p:spPr>
          <a:xfrm>
            <a:off x="365760" y="1033320"/>
            <a:ext cx="8412480" cy="3134833"/>
          </a:xfrm>
          <a:prstGeom prst="rect">
            <a:avLst/>
          </a:prstGeom>
          <a:noFill/>
        </p:spPr>
        <p:txBody>
          <a:bodyPr wrap="square" lIns="0" tIns="0" rIns="0" bIns="0">
            <a:spAutoFit/>
          </a:bodyPr>
          <a:lstStyle/>
          <a:p>
            <a:pPr>
              <a:lnSpc>
                <a:spcPts val="12000"/>
              </a:lnSpc>
            </a:pPr>
            <a:r>
              <a:rPr sz="13000" b="1" dirty="0">
                <a:solidFill>
                  <a:srgbClr val="FFE8C1"/>
                </a:solidFill>
                <a:latin typeface="Fira Sans Extra Condensed"/>
              </a:rPr>
              <a:t>Take it</a:t>
            </a:r>
            <a:r>
              <a:rPr lang="en-US" sz="13000" b="1" dirty="0">
                <a:solidFill>
                  <a:srgbClr val="FFE8C1"/>
                </a:solidFill>
                <a:latin typeface="Fira Sans Extra Condensed"/>
              </a:rPr>
              <a:t> </a:t>
            </a:r>
            <a:r>
              <a:rPr sz="13000" b="1" dirty="0">
                <a:solidFill>
                  <a:srgbClr val="C00000"/>
                </a:solidFill>
                <a:latin typeface="Fira Sans Extra Condensed"/>
              </a:rPr>
              <a:t>further.</a:t>
            </a:r>
          </a:p>
        </p:txBody>
      </p:sp>
      <p:sp>
        <p:nvSpPr>
          <p:cNvPr id="5" name="TextBox 4"/>
          <p:cNvSpPr txBox="1"/>
          <p:nvPr/>
        </p:nvSpPr>
        <p:spPr>
          <a:xfrm>
            <a:off x="365760" y="4251960"/>
            <a:ext cx="548640" cy="36576"/>
          </a:xfrm>
          <a:prstGeom prst="rect">
            <a:avLst/>
          </a:prstGeom>
          <a:noFill/>
        </p:spPr>
        <p:txBody>
          <a:bodyPr wrap="square" lIns="0" tIns="0" rIns="0" bIns="0">
            <a:spAutoFit/>
          </a:bodyPr>
          <a:lstStyle/>
          <a:p>
            <a:endParaRPr/>
          </a:p>
        </p:txBody>
      </p:sp>
      <p:sp>
        <p:nvSpPr>
          <p:cNvPr id="6" name="Rectangle 5"/>
          <p:cNvSpPr/>
          <p:nvPr/>
        </p:nvSpPr>
        <p:spPr>
          <a:xfrm>
            <a:off x="365760" y="4114800"/>
            <a:ext cx="548640" cy="36576"/>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365760" y="4251960"/>
            <a:ext cx="8412480" cy="365760"/>
          </a:xfrm>
          <a:prstGeom prst="rect">
            <a:avLst/>
          </a:prstGeom>
          <a:noFill/>
        </p:spPr>
        <p:txBody>
          <a:bodyPr wrap="square" lIns="0" tIns="0" rIns="0" bIns="0">
            <a:spAutoFit/>
          </a:bodyPr>
          <a:lstStyle/>
          <a:p>
            <a:r>
              <a:rPr sz="2200" b="0">
                <a:solidFill>
                  <a:srgbClr val="F0F0EB"/>
                </a:solidFill>
                <a:latin typeface="Fira Sans Extra Condensed"/>
              </a:rPr>
              <a:t>Where AI shifts from novelty to leverage</a:t>
            </a:r>
          </a:p>
        </p:txBody>
      </p:sp>
      <p:sp>
        <p:nvSpPr>
          <p:cNvPr id="8" name="TextBox 7"/>
          <p:cNvSpPr txBox="1"/>
          <p:nvPr/>
        </p:nvSpPr>
        <p:spPr>
          <a:xfrm>
            <a:off x="365760" y="4709160"/>
            <a:ext cx="8412480" cy="274320"/>
          </a:xfrm>
          <a:prstGeom prst="rect">
            <a:avLst/>
          </a:prstGeom>
          <a:noFill/>
        </p:spPr>
        <p:txBody>
          <a:bodyPr wrap="square" lIns="0" tIns="0" rIns="0" bIns="0">
            <a:spAutoFit/>
          </a:bodyPr>
          <a:lstStyle/>
          <a:p>
            <a:r>
              <a:rPr sz="900" b="0" spc="200">
                <a:solidFill>
                  <a:srgbClr val="F0F0EB"/>
                </a:solidFill>
                <a:latin typeface="Fira Code"/>
              </a:rPr>
              <a:t>PALETTE — AMBER + DEEP RED</a:t>
            </a:r>
          </a:p>
        </p:txBody>
      </p:sp>
    </p:spTree>
    <p:extLst>
      <p:ext uri="{BB962C8B-B14F-4D97-AF65-F5344CB8AC3E}">
        <p14:creationId xmlns:p14="http://schemas.microsoft.com/office/powerpoint/2010/main" val="360754938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
        <p:cNvGrpSpPr/>
        <p:nvPr/>
      </p:nvGrpSpPr>
      <p:grpSpPr>
        <a:xfrm>
          <a:off x="0" y="0"/>
          <a:ext cx="0" cy="0"/>
          <a:chOff x="0" y="0"/>
          <a:chExt cx="0" cy="0"/>
        </a:xfrm>
      </p:grpSpPr>
      <p:sp>
        <p:nvSpPr>
          <p:cNvPr id="2" name="TextBox 1"/>
          <p:cNvSpPr txBox="1"/>
          <p:nvPr/>
        </p:nvSpPr>
        <p:spPr>
          <a:xfrm>
            <a:off x="365760" y="365760"/>
            <a:ext cx="3657600" cy="138499"/>
          </a:xfrm>
          <a:prstGeom prst="rect">
            <a:avLst/>
          </a:prstGeom>
          <a:noFill/>
        </p:spPr>
        <p:txBody>
          <a:bodyPr wrap="square" lIns="0" tIns="0" rIns="0" bIns="0">
            <a:spAutoFit/>
          </a:bodyPr>
          <a:lstStyle/>
          <a:p>
            <a:r>
              <a:rPr sz="900" b="0" spc="200">
                <a:solidFill>
                  <a:schemeClr val="bg1"/>
                </a:solidFill>
                <a:latin typeface="Fira Code"/>
              </a:rPr>
              <a:t>08 — IMPACT</a:t>
            </a:r>
          </a:p>
        </p:txBody>
      </p:sp>
      <p:sp>
        <p:nvSpPr>
          <p:cNvPr id="3" name="TextBox 2"/>
          <p:cNvSpPr txBox="1"/>
          <p:nvPr/>
        </p:nvSpPr>
        <p:spPr>
          <a:xfrm>
            <a:off x="365760" y="210865"/>
            <a:ext cx="6193790" cy="4308872"/>
          </a:xfrm>
          <a:prstGeom prst="rect">
            <a:avLst/>
          </a:prstGeom>
          <a:noFill/>
        </p:spPr>
        <p:txBody>
          <a:bodyPr wrap="square" lIns="0" tIns="0" rIns="0" bIns="0">
            <a:spAutoFit/>
          </a:bodyPr>
          <a:lstStyle/>
          <a:p>
            <a:r>
              <a:rPr lang="en-US" sz="28000" b="1" dirty="0">
                <a:solidFill>
                  <a:srgbClr val="74D861"/>
                </a:solidFill>
                <a:latin typeface="Fira Sans Extra Condensed"/>
              </a:rPr>
              <a:t>0</a:t>
            </a:r>
            <a:r>
              <a:rPr sz="28000" b="1" dirty="0">
                <a:solidFill>
                  <a:srgbClr val="74D861"/>
                </a:solidFill>
                <a:latin typeface="Fira Sans Extra Condensed"/>
              </a:rPr>
              <a:t>5</a:t>
            </a:r>
          </a:p>
        </p:txBody>
      </p:sp>
      <p:sp>
        <p:nvSpPr>
          <p:cNvPr id="4" name="Rectangle 3"/>
          <p:cNvSpPr/>
          <p:nvPr/>
        </p:nvSpPr>
        <p:spPr>
          <a:xfrm>
            <a:off x="365760" y="4114800"/>
            <a:ext cx="548640" cy="36576"/>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4251960"/>
            <a:ext cx="8412480" cy="338554"/>
          </a:xfrm>
          <a:prstGeom prst="rect">
            <a:avLst/>
          </a:prstGeom>
          <a:noFill/>
        </p:spPr>
        <p:txBody>
          <a:bodyPr wrap="square" lIns="0" tIns="0" rIns="0" bIns="0">
            <a:spAutoFit/>
          </a:bodyPr>
          <a:lstStyle/>
          <a:p>
            <a:r>
              <a:rPr sz="2200" b="0" dirty="0">
                <a:solidFill>
                  <a:schemeClr val="bg1"/>
                </a:solidFill>
                <a:latin typeface="Fira Sans Extra Condensed"/>
              </a:rPr>
              <a:t>Offices converging on a single day, a single mandate</a:t>
            </a:r>
          </a:p>
        </p:txBody>
      </p:sp>
      <p:sp>
        <p:nvSpPr>
          <p:cNvPr id="6" name="TextBox 5"/>
          <p:cNvSpPr txBox="1"/>
          <p:nvPr/>
        </p:nvSpPr>
        <p:spPr>
          <a:xfrm>
            <a:off x="365760" y="4709160"/>
            <a:ext cx="8412480" cy="138499"/>
          </a:xfrm>
          <a:prstGeom prst="rect">
            <a:avLst/>
          </a:prstGeom>
          <a:noFill/>
        </p:spPr>
        <p:txBody>
          <a:bodyPr wrap="square" lIns="0" tIns="0" rIns="0" bIns="0">
            <a:spAutoFit/>
          </a:bodyPr>
          <a:lstStyle/>
          <a:p>
            <a:r>
              <a:rPr sz="900" b="0" spc="200">
                <a:solidFill>
                  <a:schemeClr val="bg1"/>
                </a:solidFill>
                <a:latin typeface="Fira Code"/>
              </a:rPr>
              <a:t>BROOKHAVEN  /  ANDOVER  /  BIRMINGHAM  /  SEOUL  /  NEW YORK</a:t>
            </a:r>
          </a:p>
        </p:txBody>
      </p:sp>
      <p:sp>
        <p:nvSpPr>
          <p:cNvPr id="7" name="Rectangle 6">
            <a:extLst>
              <a:ext uri="{FF2B5EF4-FFF2-40B4-BE49-F238E27FC236}">
                <a16:creationId xmlns:a16="http://schemas.microsoft.com/office/drawing/2014/main" id="{6DF3FC48-9C99-6799-5377-5E7438FFBFD4}"/>
              </a:ext>
            </a:extLst>
          </p:cNvPr>
          <p:cNvSpPr/>
          <p:nvPr/>
        </p:nvSpPr>
        <p:spPr>
          <a:xfrm>
            <a:off x="4802849" y="1368602"/>
            <a:ext cx="411480" cy="411480"/>
          </a:xfrm>
          <a:prstGeom prst="rect">
            <a:avLst/>
          </a:prstGeom>
          <a:solidFill>
            <a:srgbClr val="1E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9" name="Graphic 8">
            <a:extLst>
              <a:ext uri="{FF2B5EF4-FFF2-40B4-BE49-F238E27FC236}">
                <a16:creationId xmlns:a16="http://schemas.microsoft.com/office/drawing/2014/main" id="{FA128529-F371-E569-25B4-487327437CBA}"/>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rot="10800000">
            <a:off x="5247861" y="-1889133"/>
            <a:ext cx="3896139" cy="3107857"/>
          </a:xfrm>
          <a:prstGeom prst="rect">
            <a:avLst/>
          </a:prstGeom>
        </p:spPr>
      </p:pic>
      <p:pic>
        <p:nvPicPr>
          <p:cNvPr id="10" name="Picture 9">
            <a:extLst>
              <a:ext uri="{FF2B5EF4-FFF2-40B4-BE49-F238E27FC236}">
                <a16:creationId xmlns:a16="http://schemas.microsoft.com/office/drawing/2014/main" id="{B396FC3C-5442-51BC-883C-62A364A1FC52}"/>
              </a:ext>
            </a:extLst>
          </p:cNvPr>
          <p:cNvPicPr>
            <a:picLocks noChangeAspect="1"/>
          </p:cNvPicPr>
          <p:nvPr/>
        </p:nvPicPr>
        <p:blipFill>
          <a:blip r:embed="rId4"/>
          <a:stretch>
            <a:fillRect/>
          </a:stretch>
        </p:blipFill>
        <p:spPr>
          <a:xfrm rot="19778052">
            <a:off x="2468424" y="4540328"/>
            <a:ext cx="7200650" cy="1594374"/>
          </a:xfrm>
          <a:prstGeom prst="rect">
            <a:avLst/>
          </a:prstGeom>
        </p:spPr>
      </p:pic>
    </p:spTree>
    <p:extLst>
      <p:ext uri="{BB962C8B-B14F-4D97-AF65-F5344CB8AC3E}">
        <p14:creationId xmlns:p14="http://schemas.microsoft.com/office/powerpoint/2010/main" val="19395311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365760" y="365760"/>
            <a:ext cx="3657600" cy="182880"/>
          </a:xfrm>
          <a:prstGeom prst="rect">
            <a:avLst/>
          </a:prstGeom>
          <a:noFill/>
        </p:spPr>
        <p:txBody>
          <a:bodyPr wrap="square" lIns="0" tIns="0" rIns="0" bIns="0" anchor="t">
            <a:spAutoFit/>
          </a:bodyPr>
          <a:lstStyle/>
          <a:p>
            <a:pPr algn="l"/>
            <a:r>
              <a:rPr sz="900" b="0">
                <a:solidFill>
                  <a:srgbClr val="292929"/>
                </a:solidFill>
                <a:latin typeface="Fira Code"/>
              </a:rPr>
              <a:t>05 — TRACKS</a:t>
            </a:r>
          </a:p>
        </p:txBody>
      </p:sp>
      <p:sp>
        <p:nvSpPr>
          <p:cNvPr id="3" name="TextBox 2"/>
          <p:cNvSpPr txBox="1"/>
          <p:nvPr/>
        </p:nvSpPr>
        <p:spPr>
          <a:xfrm>
            <a:off x="365760" y="777240"/>
            <a:ext cx="8229600" cy="777240"/>
          </a:xfrm>
          <a:prstGeom prst="rect">
            <a:avLst/>
          </a:prstGeom>
          <a:noFill/>
        </p:spPr>
        <p:txBody>
          <a:bodyPr wrap="square" lIns="0" tIns="0" rIns="0" bIns="0" anchor="t">
            <a:spAutoFit/>
          </a:bodyPr>
          <a:lstStyle/>
          <a:p>
            <a:pPr algn="l"/>
            <a:r>
              <a:rPr sz="3600" b="1">
                <a:solidFill>
                  <a:srgbClr val="292929"/>
                </a:solidFill>
                <a:latin typeface="Fira Sans Extra Condensed"/>
              </a:rPr>
              <a:t>Three tracks. One mandate.</a:t>
            </a:r>
          </a:p>
        </p:txBody>
      </p:sp>
      <p:sp>
        <p:nvSpPr>
          <p:cNvPr id="4" name="Rectangle 3"/>
          <p:cNvSpPr/>
          <p:nvPr/>
        </p:nvSpPr>
        <p:spPr>
          <a:xfrm>
            <a:off x="365760" y="1600200"/>
            <a:ext cx="548640" cy="36576"/>
          </a:xfrm>
          <a:prstGeom prst="rect">
            <a:avLst/>
          </a:prstGeom>
          <a:solidFill>
            <a:srgbClr val="FAD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874519"/>
            <a:ext cx="2798064" cy="3017520"/>
          </a:xfrm>
          <a:prstGeom prst="rect">
            <a:avLst/>
          </a:prstGeom>
          <a:solidFill>
            <a:srgbClr val="FB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94360" y="2057399"/>
            <a:ext cx="2286000" cy="1015663"/>
          </a:xfrm>
          <a:prstGeom prst="rect">
            <a:avLst/>
          </a:prstGeom>
          <a:noFill/>
        </p:spPr>
        <p:txBody>
          <a:bodyPr wrap="square" lIns="0" tIns="0" rIns="0" bIns="0" anchor="t">
            <a:spAutoFit/>
          </a:bodyPr>
          <a:lstStyle/>
          <a:p>
            <a:pPr algn="l"/>
            <a:r>
              <a:rPr sz="6600" b="1" dirty="0">
                <a:solidFill>
                  <a:srgbClr val="FADE4B"/>
                </a:solidFill>
                <a:latin typeface="Fira Sans Extra Condensed"/>
              </a:rPr>
              <a:t>01</a:t>
            </a:r>
          </a:p>
        </p:txBody>
      </p:sp>
      <p:sp>
        <p:nvSpPr>
          <p:cNvPr id="7" name="TextBox 6"/>
          <p:cNvSpPr txBox="1"/>
          <p:nvPr/>
        </p:nvSpPr>
        <p:spPr>
          <a:xfrm>
            <a:off x="594360" y="3246119"/>
            <a:ext cx="2377440" cy="274320"/>
          </a:xfrm>
          <a:prstGeom prst="rect">
            <a:avLst/>
          </a:prstGeom>
          <a:noFill/>
        </p:spPr>
        <p:txBody>
          <a:bodyPr wrap="square" lIns="0" tIns="0" rIns="0" bIns="0" anchor="t">
            <a:spAutoFit/>
          </a:bodyPr>
          <a:lstStyle/>
          <a:p>
            <a:pPr algn="l"/>
            <a:r>
              <a:rPr sz="1000" b="0">
                <a:solidFill>
                  <a:srgbClr val="F0F0EB"/>
                </a:solidFill>
                <a:latin typeface="Fira Code"/>
              </a:rPr>
              <a:t>TOOLING</a:t>
            </a:r>
          </a:p>
        </p:txBody>
      </p:sp>
      <p:sp>
        <p:nvSpPr>
          <p:cNvPr id="8" name="TextBox 7"/>
          <p:cNvSpPr txBox="1"/>
          <p:nvPr/>
        </p:nvSpPr>
        <p:spPr>
          <a:xfrm>
            <a:off x="594360" y="3566159"/>
            <a:ext cx="2377440" cy="1188720"/>
          </a:xfrm>
          <a:prstGeom prst="rect">
            <a:avLst/>
          </a:prstGeom>
          <a:noFill/>
        </p:spPr>
        <p:txBody>
          <a:bodyPr wrap="square" lIns="0" tIns="0" rIns="0" bIns="0" anchor="t">
            <a:spAutoFit/>
          </a:bodyPr>
          <a:lstStyle/>
          <a:p>
            <a:pPr algn="l"/>
            <a:r>
              <a:rPr sz="1200" b="0" dirty="0">
                <a:solidFill>
                  <a:srgbClr val="F0F0EB"/>
                </a:solidFill>
                <a:latin typeface="Fira Sans Extra Condensed"/>
              </a:rPr>
              <a:t>Claude, Copilot, and internal agents to every team by Q3.</a:t>
            </a:r>
          </a:p>
        </p:txBody>
      </p:sp>
      <p:sp>
        <p:nvSpPr>
          <p:cNvPr id="9" name="Rectangle 8"/>
          <p:cNvSpPr/>
          <p:nvPr/>
        </p:nvSpPr>
        <p:spPr>
          <a:xfrm>
            <a:off x="3255264" y="1874519"/>
            <a:ext cx="2798064" cy="3017520"/>
          </a:xfrm>
          <a:prstGeom prst="rect">
            <a:avLst/>
          </a:prstGeom>
          <a:solidFill>
            <a:srgbClr val="00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3483864" y="2057399"/>
            <a:ext cx="2286000" cy="914400"/>
          </a:xfrm>
          <a:prstGeom prst="rect">
            <a:avLst/>
          </a:prstGeom>
          <a:noFill/>
        </p:spPr>
        <p:txBody>
          <a:bodyPr wrap="square" lIns="0" tIns="0" rIns="0" bIns="0" anchor="t">
            <a:spAutoFit/>
          </a:bodyPr>
          <a:lstStyle/>
          <a:p>
            <a:pPr algn="l"/>
            <a:r>
              <a:rPr sz="6600" b="1">
                <a:solidFill>
                  <a:srgbClr val="67FAE0"/>
                </a:solidFill>
                <a:latin typeface="Fira Sans Extra Condensed"/>
              </a:rPr>
              <a:t>02</a:t>
            </a:r>
          </a:p>
        </p:txBody>
      </p:sp>
      <p:sp>
        <p:nvSpPr>
          <p:cNvPr id="11" name="TextBox 10"/>
          <p:cNvSpPr txBox="1"/>
          <p:nvPr/>
        </p:nvSpPr>
        <p:spPr>
          <a:xfrm>
            <a:off x="3483864" y="3246119"/>
            <a:ext cx="2377440" cy="274320"/>
          </a:xfrm>
          <a:prstGeom prst="rect">
            <a:avLst/>
          </a:prstGeom>
          <a:noFill/>
        </p:spPr>
        <p:txBody>
          <a:bodyPr wrap="square" lIns="0" tIns="0" rIns="0" bIns="0" anchor="t">
            <a:spAutoFit/>
          </a:bodyPr>
          <a:lstStyle/>
          <a:p>
            <a:pPr algn="l"/>
            <a:r>
              <a:rPr sz="1000" b="0">
                <a:solidFill>
                  <a:srgbClr val="F0F0EB"/>
                </a:solidFill>
                <a:latin typeface="Fira Code"/>
              </a:rPr>
              <a:t>TRAINING</a:t>
            </a:r>
          </a:p>
        </p:txBody>
      </p:sp>
      <p:sp>
        <p:nvSpPr>
          <p:cNvPr id="12" name="TextBox 11"/>
          <p:cNvSpPr txBox="1"/>
          <p:nvPr/>
        </p:nvSpPr>
        <p:spPr>
          <a:xfrm>
            <a:off x="3483864" y="3566159"/>
            <a:ext cx="2377440" cy="1188720"/>
          </a:xfrm>
          <a:prstGeom prst="rect">
            <a:avLst/>
          </a:prstGeom>
          <a:noFill/>
        </p:spPr>
        <p:txBody>
          <a:bodyPr wrap="square" lIns="0" tIns="0" rIns="0" bIns="0" anchor="t">
            <a:spAutoFit/>
          </a:bodyPr>
          <a:lstStyle/>
          <a:p>
            <a:pPr algn="l"/>
            <a:r>
              <a:rPr sz="1200" b="0">
                <a:solidFill>
                  <a:srgbClr val="F0F0EB"/>
                </a:solidFill>
                <a:latin typeface="Fira Sans Extra Condensed"/>
              </a:rPr>
              <a:t>Hands-on workshops, prompt clinics, ambassador-led sessions.</a:t>
            </a:r>
          </a:p>
        </p:txBody>
      </p:sp>
      <p:sp>
        <p:nvSpPr>
          <p:cNvPr id="13" name="Rectangle 12"/>
          <p:cNvSpPr/>
          <p:nvPr/>
        </p:nvSpPr>
        <p:spPr>
          <a:xfrm>
            <a:off x="6144768" y="1874519"/>
            <a:ext cx="2798064" cy="3017520"/>
          </a:xfrm>
          <a:prstGeom prst="rect">
            <a:avLst/>
          </a:prstGeom>
          <a:solidFill>
            <a:srgbClr val="461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6373368" y="2057399"/>
            <a:ext cx="2286000" cy="1015663"/>
          </a:xfrm>
          <a:prstGeom prst="rect">
            <a:avLst/>
          </a:prstGeom>
          <a:noFill/>
        </p:spPr>
        <p:txBody>
          <a:bodyPr wrap="square" lIns="0" tIns="0" rIns="0" bIns="0" anchor="t">
            <a:spAutoFit/>
          </a:bodyPr>
          <a:lstStyle/>
          <a:p>
            <a:pPr algn="l"/>
            <a:r>
              <a:rPr sz="6600" b="1" dirty="0">
                <a:solidFill>
                  <a:srgbClr val="FADE4B"/>
                </a:solidFill>
                <a:latin typeface="Fira Sans Extra Condensed"/>
              </a:rPr>
              <a:t>03</a:t>
            </a:r>
          </a:p>
        </p:txBody>
      </p:sp>
      <p:sp>
        <p:nvSpPr>
          <p:cNvPr id="15" name="TextBox 14"/>
          <p:cNvSpPr txBox="1"/>
          <p:nvPr/>
        </p:nvSpPr>
        <p:spPr>
          <a:xfrm>
            <a:off x="6373368" y="3246119"/>
            <a:ext cx="2377440" cy="274320"/>
          </a:xfrm>
          <a:prstGeom prst="rect">
            <a:avLst/>
          </a:prstGeom>
          <a:noFill/>
        </p:spPr>
        <p:txBody>
          <a:bodyPr wrap="square" lIns="0" tIns="0" rIns="0" bIns="0" anchor="t">
            <a:spAutoFit/>
          </a:bodyPr>
          <a:lstStyle/>
          <a:p>
            <a:pPr algn="l"/>
            <a:r>
              <a:rPr sz="1000" b="0">
                <a:solidFill>
                  <a:srgbClr val="F0F0EB"/>
                </a:solidFill>
                <a:latin typeface="Fira Code"/>
              </a:rPr>
              <a:t>CULTURE</a:t>
            </a:r>
          </a:p>
        </p:txBody>
      </p:sp>
      <p:sp>
        <p:nvSpPr>
          <p:cNvPr id="16" name="TextBox 15"/>
          <p:cNvSpPr txBox="1"/>
          <p:nvPr/>
        </p:nvSpPr>
        <p:spPr>
          <a:xfrm>
            <a:off x="6373368" y="3566159"/>
            <a:ext cx="2377440" cy="1188720"/>
          </a:xfrm>
          <a:prstGeom prst="rect">
            <a:avLst/>
          </a:prstGeom>
          <a:noFill/>
        </p:spPr>
        <p:txBody>
          <a:bodyPr wrap="square" lIns="0" tIns="0" rIns="0" bIns="0" anchor="t">
            <a:spAutoFit/>
          </a:bodyPr>
          <a:lstStyle/>
          <a:p>
            <a:pPr algn="l"/>
            <a:r>
              <a:rPr sz="1200" b="0">
                <a:solidFill>
                  <a:srgbClr val="F0F0EB"/>
                </a:solidFill>
                <a:latin typeface="Fira Sans Extra Condensed"/>
              </a:rPr>
              <a:t>Make AI use visible, rewarded, and the default expectation.</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062FF"/>
        </a:solidFill>
        <a:effectLst/>
      </p:bgPr>
    </p:bg>
    <p:spTree>
      <p:nvGrpSpPr>
        <p:cNvPr id="1" name=""/>
        <p:cNvGrpSpPr/>
        <p:nvPr/>
      </p:nvGrpSpPr>
      <p:grpSpPr>
        <a:xfrm>
          <a:off x="0" y="0"/>
          <a:ext cx="0" cy="0"/>
          <a:chOff x="0" y="0"/>
          <a:chExt cx="0" cy="0"/>
        </a:xfrm>
      </p:grpSpPr>
      <p:pic>
        <p:nvPicPr>
          <p:cNvPr id="24" name="Picture 23">
            <a:extLst>
              <a:ext uri="{FF2B5EF4-FFF2-40B4-BE49-F238E27FC236}">
                <a16:creationId xmlns:a16="http://schemas.microsoft.com/office/drawing/2014/main" id="{C9D9AFEC-6D1F-1E0E-04F1-E0FC38C30EF4}"/>
              </a:ext>
            </a:extLst>
          </p:cNvPr>
          <p:cNvPicPr>
            <a:picLocks noChangeAspect="1"/>
          </p:cNvPicPr>
          <p:nvPr/>
        </p:nvPicPr>
        <p:blipFill>
          <a:blip r:embed="rId3"/>
          <a:stretch>
            <a:fillRect/>
          </a:stretch>
        </p:blipFill>
        <p:spPr>
          <a:xfrm rot="21379862">
            <a:off x="-1425196" y="2511351"/>
            <a:ext cx="9799832" cy="2613122"/>
          </a:xfrm>
          <a:prstGeom prst="rect">
            <a:avLst/>
          </a:prstGeom>
        </p:spPr>
      </p:pic>
      <p:pic>
        <p:nvPicPr>
          <p:cNvPr id="17" name="Picture 16">
            <a:extLst>
              <a:ext uri="{FF2B5EF4-FFF2-40B4-BE49-F238E27FC236}">
                <a16:creationId xmlns:a16="http://schemas.microsoft.com/office/drawing/2014/main" id="{221323C7-AD13-CB55-2D94-E23576EB9131}"/>
              </a:ext>
            </a:extLst>
          </p:cNvPr>
          <p:cNvPicPr>
            <a:picLocks noChangeAspect="1"/>
          </p:cNvPicPr>
          <p:nvPr/>
        </p:nvPicPr>
        <p:blipFill>
          <a:blip r:embed="rId4">
            <a:alphaModFix amt="67000"/>
          </a:blip>
          <a:stretch>
            <a:fillRect/>
          </a:stretch>
        </p:blipFill>
        <p:spPr>
          <a:xfrm>
            <a:off x="628651" y="323970"/>
            <a:ext cx="4495560" cy="4495560"/>
          </a:xfrm>
          <a:prstGeom prst="rect">
            <a:avLst/>
          </a:prstGeom>
        </p:spPr>
      </p:pic>
      <p:sp>
        <p:nvSpPr>
          <p:cNvPr id="9" name="Rectangle 8"/>
          <p:cNvSpPr/>
          <p:nvPr/>
        </p:nvSpPr>
        <p:spPr>
          <a:xfrm>
            <a:off x="1704690" y="1340714"/>
            <a:ext cx="2343484" cy="2343484"/>
          </a:xfrm>
          <a:prstGeom prst="rect">
            <a:avLst/>
          </a:prstGeom>
          <a:solidFill>
            <a:srgbClr val="F0F0EB"/>
          </a:solidFill>
          <a:ln>
            <a:solidFill>
              <a:srgbClr val="F0F0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704690" y="2411966"/>
            <a:ext cx="2343484" cy="319566"/>
          </a:xfrm>
          <a:prstGeom prst="rect">
            <a:avLst/>
          </a:prstGeom>
          <a:noFill/>
        </p:spPr>
        <p:txBody>
          <a:bodyPr wrap="square" lIns="0" tIns="0" rIns="0" bIns="0" anchor="t">
            <a:spAutoFit/>
          </a:bodyPr>
          <a:lstStyle/>
          <a:p>
            <a:pPr algn="ctr"/>
            <a:r>
              <a:rPr sz="1000" b="0" dirty="0">
                <a:solidFill>
                  <a:srgbClr val="292929"/>
                </a:solidFill>
                <a:latin typeface="Fira Code"/>
              </a:rPr>
              <a:t>[ portrait ]</a:t>
            </a:r>
          </a:p>
        </p:txBody>
      </p:sp>
      <p:sp>
        <p:nvSpPr>
          <p:cNvPr id="12" name="TextBox 11"/>
          <p:cNvSpPr txBox="1"/>
          <p:nvPr/>
        </p:nvSpPr>
        <p:spPr>
          <a:xfrm>
            <a:off x="5669280" y="457200"/>
            <a:ext cx="3657600" cy="138499"/>
          </a:xfrm>
          <a:prstGeom prst="rect">
            <a:avLst/>
          </a:prstGeom>
          <a:noFill/>
        </p:spPr>
        <p:txBody>
          <a:bodyPr wrap="square" lIns="0" tIns="0" rIns="0" bIns="0" anchor="t">
            <a:spAutoFit/>
          </a:bodyPr>
          <a:lstStyle/>
          <a:p>
            <a:pPr algn="l"/>
            <a:r>
              <a:rPr sz="900" b="0" dirty="0">
                <a:solidFill>
                  <a:schemeClr val="bg1"/>
                </a:solidFill>
                <a:latin typeface="Fira Code"/>
              </a:rPr>
              <a:t>06 — FEATURED</a:t>
            </a:r>
          </a:p>
        </p:txBody>
      </p:sp>
      <p:sp>
        <p:nvSpPr>
          <p:cNvPr id="13" name="TextBox 12"/>
          <p:cNvSpPr txBox="1"/>
          <p:nvPr/>
        </p:nvSpPr>
        <p:spPr>
          <a:xfrm>
            <a:off x="5669280" y="868680"/>
            <a:ext cx="3291840" cy="1292662"/>
          </a:xfrm>
          <a:prstGeom prst="rect">
            <a:avLst/>
          </a:prstGeom>
          <a:noFill/>
        </p:spPr>
        <p:txBody>
          <a:bodyPr wrap="square" lIns="0" tIns="0" rIns="0" bIns="0" anchor="t">
            <a:spAutoFit/>
          </a:bodyPr>
          <a:lstStyle/>
          <a:p>
            <a:pPr algn="l"/>
            <a:r>
              <a:rPr sz="4200" b="1" dirty="0">
                <a:solidFill>
                  <a:schemeClr val="bg1"/>
                </a:solidFill>
                <a:latin typeface="Fira Sans Extra Condensed"/>
              </a:rPr>
              <a:t>Ambassador</a:t>
            </a:r>
            <a:r>
              <a:rPr sz="4200" b="1" dirty="0">
                <a:solidFill>
                  <a:srgbClr val="292929"/>
                </a:solidFill>
                <a:latin typeface="Fira Sans Extra Condensed"/>
              </a:rPr>
              <a:t>
</a:t>
            </a:r>
            <a:r>
              <a:rPr sz="4200" b="1" dirty="0">
                <a:solidFill>
                  <a:srgbClr val="66FBE1"/>
                </a:solidFill>
                <a:latin typeface="Fira Sans Extra Condensed"/>
              </a:rPr>
              <a:t>spotlight.</a:t>
            </a:r>
          </a:p>
        </p:txBody>
      </p:sp>
      <p:pic>
        <p:nvPicPr>
          <p:cNvPr id="22" name="Graphic 21">
            <a:extLst>
              <a:ext uri="{FF2B5EF4-FFF2-40B4-BE49-F238E27FC236}">
                <a16:creationId xmlns:a16="http://schemas.microsoft.com/office/drawing/2014/main" id="{F2E6B2AF-DB87-9473-97E2-121881F90573}"/>
              </a:ext>
            </a:extLst>
          </p:cNvPr>
          <p:cNvPicPr>
            <a:picLocks noChangeAspect="1"/>
          </p:cNvPicPr>
          <p:nvPr/>
        </p:nvPicPr>
        <p:blipFill>
          <a:blip>
            <a:alphaModFix amt="43000"/>
            <a:extLst>
              <a:ext uri="{96DAC541-7B7A-43D3-8B79-37D633B846F1}">
                <asvg:svgBlip xmlns:asvg="http://schemas.microsoft.com/office/drawing/2016/SVG/main" r:embed="rId5"/>
              </a:ext>
            </a:extLst>
          </a:blip>
          <a:stretch>
            <a:fillRect/>
          </a:stretch>
        </p:blipFill>
        <p:spPr>
          <a:xfrm>
            <a:off x="5669280" y="3113806"/>
            <a:ext cx="5643762" cy="2085838"/>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a:extLst>
            <a:ext uri="{FF2B5EF4-FFF2-40B4-BE49-F238E27FC236}">
              <a16:creationId xmlns:a16="http://schemas.microsoft.com/office/drawing/2014/main" id="{B5B371F0-B770-F45D-DC70-CA5AEA6E88BB}"/>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4DC54F64-0AFD-10F6-8B5C-EFFBB0C6AE31}"/>
              </a:ext>
            </a:extLst>
          </p:cNvPr>
          <p:cNvPicPr>
            <a:picLocks noChangeAspect="1"/>
          </p:cNvPicPr>
          <p:nvPr/>
        </p:nvPicPr>
        <p:blipFill>
          <a:blip r:embed="rId3"/>
          <a:stretch>
            <a:fillRect/>
          </a:stretch>
        </p:blipFill>
        <p:spPr>
          <a:xfrm rot="16200000">
            <a:off x="2682987" y="-3479190"/>
            <a:ext cx="10910346" cy="3024906"/>
          </a:xfrm>
          <a:prstGeom prst="rect">
            <a:avLst/>
          </a:prstGeom>
        </p:spPr>
      </p:pic>
      <p:pic>
        <p:nvPicPr>
          <p:cNvPr id="13" name="Picture 12">
            <a:extLst>
              <a:ext uri="{FF2B5EF4-FFF2-40B4-BE49-F238E27FC236}">
                <a16:creationId xmlns:a16="http://schemas.microsoft.com/office/drawing/2014/main" id="{F2659E29-221A-B7F7-6C85-829FB745BB63}"/>
              </a:ext>
            </a:extLst>
          </p:cNvPr>
          <p:cNvPicPr>
            <a:picLocks noChangeAspect="1"/>
          </p:cNvPicPr>
          <p:nvPr/>
        </p:nvPicPr>
        <p:blipFill>
          <a:blip r:embed="rId4">
            <a:alphaModFix amt="41000"/>
          </a:blip>
          <a:stretch>
            <a:fillRect/>
          </a:stretch>
        </p:blipFill>
        <p:spPr>
          <a:xfrm>
            <a:off x="-2442632" y="2814394"/>
            <a:ext cx="12657664" cy="2802670"/>
          </a:xfrm>
          <a:prstGeom prst="rect">
            <a:avLst/>
          </a:prstGeom>
        </p:spPr>
      </p:pic>
      <p:sp>
        <p:nvSpPr>
          <p:cNvPr id="4" name="TextBox 3">
            <a:extLst>
              <a:ext uri="{FF2B5EF4-FFF2-40B4-BE49-F238E27FC236}">
                <a16:creationId xmlns:a16="http://schemas.microsoft.com/office/drawing/2014/main" id="{3F0BF53F-E39B-6595-4F54-48E278B34BCB}"/>
              </a:ext>
            </a:extLst>
          </p:cNvPr>
          <p:cNvSpPr txBox="1"/>
          <p:nvPr/>
        </p:nvSpPr>
        <p:spPr>
          <a:xfrm>
            <a:off x="365760" y="365760"/>
            <a:ext cx="3657600" cy="246221"/>
          </a:xfrm>
          <a:prstGeom prst="rect">
            <a:avLst/>
          </a:prstGeom>
          <a:noFill/>
        </p:spPr>
        <p:txBody>
          <a:bodyPr wrap="square" lIns="0" tIns="0" rIns="0" bIns="0" anchor="t">
            <a:spAutoFit/>
          </a:bodyPr>
          <a:lstStyle/>
          <a:p>
            <a:pPr algn="l"/>
            <a:r>
              <a:rPr sz="1600" b="1" dirty="0">
                <a:solidFill>
                  <a:srgbClr val="292929"/>
                </a:solidFill>
                <a:latin typeface="Fira Code"/>
              </a:rPr>
              <a:t>JUNE.9.20</a:t>
            </a:r>
            <a:r>
              <a:rPr sz="1600" b="1" dirty="0">
                <a:solidFill>
                  <a:srgbClr val="FADE4B"/>
                </a:solidFill>
                <a:latin typeface="Fira Code"/>
              </a:rPr>
              <a:t>26</a:t>
            </a:r>
          </a:p>
        </p:txBody>
      </p:sp>
      <p:sp>
        <p:nvSpPr>
          <p:cNvPr id="5" name="TextBox 4">
            <a:extLst>
              <a:ext uri="{FF2B5EF4-FFF2-40B4-BE49-F238E27FC236}">
                <a16:creationId xmlns:a16="http://schemas.microsoft.com/office/drawing/2014/main" id="{17980D32-EE06-0B79-303E-66F4720F3B3C}"/>
              </a:ext>
            </a:extLst>
          </p:cNvPr>
          <p:cNvSpPr txBox="1"/>
          <p:nvPr/>
        </p:nvSpPr>
        <p:spPr>
          <a:xfrm>
            <a:off x="365760" y="994647"/>
            <a:ext cx="8412480" cy="2382704"/>
          </a:xfrm>
          <a:prstGeom prst="rect">
            <a:avLst/>
          </a:prstGeom>
          <a:noFill/>
        </p:spPr>
        <p:txBody>
          <a:bodyPr wrap="square" lIns="0" tIns="0" rIns="0" bIns="0" anchor="t">
            <a:spAutoFit/>
          </a:bodyPr>
          <a:lstStyle/>
          <a:p>
            <a:pPr algn="l">
              <a:lnSpc>
                <a:spcPts val="8800"/>
              </a:lnSpc>
            </a:pPr>
            <a:r>
              <a:rPr sz="10000" b="1" dirty="0">
                <a:solidFill>
                  <a:schemeClr val="bg1"/>
                </a:solidFill>
                <a:latin typeface="Fira Sans Extra Condensed"/>
              </a:rPr>
              <a:t>See you</a:t>
            </a:r>
            <a:endParaRPr lang="en-US" sz="10000" b="1" dirty="0">
              <a:solidFill>
                <a:schemeClr val="bg1"/>
              </a:solidFill>
              <a:latin typeface="Fira Sans Extra Condensed"/>
            </a:endParaRPr>
          </a:p>
          <a:p>
            <a:pPr algn="l">
              <a:lnSpc>
                <a:spcPts val="8800"/>
              </a:lnSpc>
            </a:pPr>
            <a:r>
              <a:rPr sz="10000" b="1" dirty="0">
                <a:solidFill>
                  <a:srgbClr val="FADE4B"/>
                </a:solidFill>
                <a:latin typeface="Fira Sans Extra Condensed"/>
              </a:rPr>
              <a:t>June 9</a:t>
            </a:r>
            <a:r>
              <a:rPr lang="en-US" sz="10000" b="1" dirty="0">
                <a:solidFill>
                  <a:srgbClr val="FADE4B"/>
                </a:solidFill>
                <a:latin typeface="Fira Sans Extra Condensed"/>
              </a:rPr>
              <a:t>.</a:t>
            </a:r>
            <a:endParaRPr sz="10000" b="1" dirty="0">
              <a:solidFill>
                <a:srgbClr val="FADE4B"/>
              </a:solidFill>
              <a:latin typeface="Fira Sans Extra Condensed"/>
            </a:endParaRPr>
          </a:p>
        </p:txBody>
      </p:sp>
      <p:grpSp>
        <p:nvGrpSpPr>
          <p:cNvPr id="19" name="Group 18">
            <a:extLst>
              <a:ext uri="{FF2B5EF4-FFF2-40B4-BE49-F238E27FC236}">
                <a16:creationId xmlns:a16="http://schemas.microsoft.com/office/drawing/2014/main" id="{7D02BFD9-68E5-55F7-B33E-72520BE458F7}"/>
              </a:ext>
            </a:extLst>
          </p:cNvPr>
          <p:cNvGrpSpPr/>
          <p:nvPr/>
        </p:nvGrpSpPr>
        <p:grpSpPr>
          <a:xfrm>
            <a:off x="365760" y="3451860"/>
            <a:ext cx="5029200" cy="842367"/>
            <a:chOff x="365760" y="3233023"/>
            <a:chExt cx="5029200" cy="842367"/>
          </a:xfrm>
        </p:grpSpPr>
        <p:sp>
          <p:nvSpPr>
            <p:cNvPr id="6" name="Rectangle 5">
              <a:extLst>
                <a:ext uri="{FF2B5EF4-FFF2-40B4-BE49-F238E27FC236}">
                  <a16:creationId xmlns:a16="http://schemas.microsoft.com/office/drawing/2014/main" id="{6ADC1CE6-D550-3C41-FB0D-C339C9566B4E}"/>
                </a:ext>
              </a:extLst>
            </p:cNvPr>
            <p:cNvSpPr/>
            <p:nvPr/>
          </p:nvSpPr>
          <p:spPr>
            <a:xfrm>
              <a:off x="365760" y="3233023"/>
              <a:ext cx="457200" cy="36576"/>
            </a:xfrm>
            <a:prstGeom prst="rect">
              <a:avLst/>
            </a:prstGeom>
            <a:solidFill>
              <a:srgbClr val="FAD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a:extLst>
                <a:ext uri="{FF2B5EF4-FFF2-40B4-BE49-F238E27FC236}">
                  <a16:creationId xmlns:a16="http://schemas.microsoft.com/office/drawing/2014/main" id="{C655A10B-BD7D-6B53-50EF-2EA361421D57}"/>
                </a:ext>
              </a:extLst>
            </p:cNvPr>
            <p:cNvSpPr txBox="1"/>
            <p:nvPr/>
          </p:nvSpPr>
          <p:spPr>
            <a:xfrm>
              <a:off x="365760" y="3370183"/>
              <a:ext cx="5029200" cy="153888"/>
            </a:xfrm>
            <a:prstGeom prst="rect">
              <a:avLst/>
            </a:prstGeom>
            <a:noFill/>
          </p:spPr>
          <p:txBody>
            <a:bodyPr wrap="square" lIns="0" tIns="0" rIns="0" bIns="0" anchor="t">
              <a:spAutoFit/>
            </a:bodyPr>
            <a:lstStyle/>
            <a:p>
              <a:pPr algn="l"/>
              <a:r>
                <a:rPr sz="1000" b="0" dirty="0">
                  <a:solidFill>
                    <a:schemeClr val="bg1"/>
                  </a:solidFill>
                  <a:latin typeface="Fira Code"/>
                </a:rPr>
                <a:t>NEXT STEPS</a:t>
              </a:r>
            </a:p>
          </p:txBody>
        </p:sp>
        <p:sp>
          <p:nvSpPr>
            <p:cNvPr id="8" name="TextBox 7">
              <a:extLst>
                <a:ext uri="{FF2B5EF4-FFF2-40B4-BE49-F238E27FC236}">
                  <a16:creationId xmlns:a16="http://schemas.microsoft.com/office/drawing/2014/main" id="{CC86ECAA-07FE-B6FA-420C-E27B27F39B55}"/>
                </a:ext>
              </a:extLst>
            </p:cNvPr>
            <p:cNvSpPr txBox="1"/>
            <p:nvPr/>
          </p:nvSpPr>
          <p:spPr>
            <a:xfrm>
              <a:off x="365760" y="3644503"/>
              <a:ext cx="5029200" cy="430887"/>
            </a:xfrm>
            <a:prstGeom prst="rect">
              <a:avLst/>
            </a:prstGeom>
            <a:noFill/>
          </p:spPr>
          <p:txBody>
            <a:bodyPr wrap="square" lIns="0" tIns="0" rIns="0" bIns="0" anchor="t">
              <a:spAutoFit/>
            </a:bodyPr>
            <a:lstStyle/>
            <a:p>
              <a:pPr algn="l"/>
              <a:r>
                <a:rPr sz="1400" b="1" dirty="0">
                  <a:solidFill>
                    <a:schemeClr val="bg1"/>
                  </a:solidFill>
                  <a:latin typeface="Fira Sans Extra Condensed" panose="020B0503050000020004" pitchFamily="34" charset="0"/>
                </a:rPr>
                <a:t>RSVP via the QR. Add the date to your calendar.</a:t>
              </a:r>
              <a:br>
                <a:rPr lang="en-US" sz="1400" b="1" dirty="0">
                  <a:solidFill>
                    <a:schemeClr val="bg1"/>
                  </a:solidFill>
                  <a:latin typeface="Fira Sans Extra Condensed" panose="020B0503050000020004" pitchFamily="34" charset="0"/>
                </a:rPr>
              </a:br>
              <a:r>
                <a:rPr sz="1400" b="1" dirty="0">
                  <a:solidFill>
                    <a:schemeClr val="bg1"/>
                  </a:solidFill>
                  <a:latin typeface="Fira Sans Extra Condensed" panose="020B0503050000020004" pitchFamily="34" charset="0"/>
                </a:rPr>
                <a:t>Bring one question worth asking out loud.</a:t>
              </a:r>
            </a:p>
          </p:txBody>
        </p:sp>
      </p:grpSp>
      <p:sp>
        <p:nvSpPr>
          <p:cNvPr id="9" name="TextBox 8">
            <a:extLst>
              <a:ext uri="{FF2B5EF4-FFF2-40B4-BE49-F238E27FC236}">
                <a16:creationId xmlns:a16="http://schemas.microsoft.com/office/drawing/2014/main" id="{8A3BDA14-A8EF-1226-DF69-1D4B6B177581}"/>
              </a:ext>
            </a:extLst>
          </p:cNvPr>
          <p:cNvSpPr txBox="1"/>
          <p:nvPr/>
        </p:nvSpPr>
        <p:spPr>
          <a:xfrm>
            <a:off x="365760" y="4572000"/>
            <a:ext cx="5029200" cy="153888"/>
          </a:xfrm>
          <a:prstGeom prst="rect">
            <a:avLst/>
          </a:prstGeom>
          <a:noFill/>
        </p:spPr>
        <p:txBody>
          <a:bodyPr wrap="square" lIns="0" tIns="0" rIns="0" bIns="0" anchor="t">
            <a:spAutoFit/>
          </a:bodyPr>
          <a:lstStyle/>
          <a:p>
            <a:pPr algn="l"/>
            <a:r>
              <a:rPr sz="1000" b="0" dirty="0">
                <a:solidFill>
                  <a:schemeClr val="bg1"/>
                </a:solidFill>
                <a:latin typeface="Fira Code"/>
              </a:rPr>
              <a:t>QUESTIONS  ⟶  #PROJECT-AIR ON SLACK</a:t>
            </a:r>
          </a:p>
        </p:txBody>
      </p:sp>
      <p:grpSp>
        <p:nvGrpSpPr>
          <p:cNvPr id="15" name="Group 14">
            <a:extLst>
              <a:ext uri="{FF2B5EF4-FFF2-40B4-BE49-F238E27FC236}">
                <a16:creationId xmlns:a16="http://schemas.microsoft.com/office/drawing/2014/main" id="{80C3A071-9D98-5AFB-8A44-3E850D7DE8B3}"/>
              </a:ext>
            </a:extLst>
          </p:cNvPr>
          <p:cNvGrpSpPr/>
          <p:nvPr/>
        </p:nvGrpSpPr>
        <p:grpSpPr>
          <a:xfrm>
            <a:off x="3886200" y="3401562"/>
            <a:ext cx="1371600" cy="1376178"/>
            <a:chOff x="7040880" y="3398181"/>
            <a:chExt cx="1371600" cy="1376178"/>
          </a:xfrm>
        </p:grpSpPr>
        <p:pic>
          <p:nvPicPr>
            <p:cNvPr id="10" name="Picture 9" descr="qr.png">
              <a:extLst>
                <a:ext uri="{FF2B5EF4-FFF2-40B4-BE49-F238E27FC236}">
                  <a16:creationId xmlns:a16="http://schemas.microsoft.com/office/drawing/2014/main" id="{E278D410-C870-32A7-76E6-97C0429FF737}"/>
                </a:ext>
              </a:extLst>
            </p:cNvPr>
            <p:cNvPicPr>
              <a:picLocks noChangeAspect="1"/>
            </p:cNvPicPr>
            <p:nvPr/>
          </p:nvPicPr>
          <p:blipFill>
            <a:blip r:embed="rId5"/>
            <a:stretch>
              <a:fillRect/>
            </a:stretch>
          </p:blipFill>
          <p:spPr>
            <a:xfrm>
              <a:off x="7156704" y="3398181"/>
              <a:ext cx="1139952" cy="1139952"/>
            </a:xfrm>
            <a:prstGeom prst="rect">
              <a:avLst/>
            </a:prstGeom>
          </p:spPr>
        </p:pic>
        <p:sp>
          <p:nvSpPr>
            <p:cNvPr id="11" name="TextBox 10">
              <a:extLst>
                <a:ext uri="{FF2B5EF4-FFF2-40B4-BE49-F238E27FC236}">
                  <a16:creationId xmlns:a16="http://schemas.microsoft.com/office/drawing/2014/main" id="{4C51A5EF-29FD-F84E-5C50-5701C68F67E1}"/>
                </a:ext>
              </a:extLst>
            </p:cNvPr>
            <p:cNvSpPr txBox="1"/>
            <p:nvPr/>
          </p:nvSpPr>
          <p:spPr>
            <a:xfrm>
              <a:off x="7040880" y="4651248"/>
              <a:ext cx="1371600" cy="123111"/>
            </a:xfrm>
            <a:prstGeom prst="rect">
              <a:avLst/>
            </a:prstGeom>
            <a:noFill/>
          </p:spPr>
          <p:txBody>
            <a:bodyPr wrap="square" lIns="0" tIns="0" rIns="0" bIns="0" anchor="t">
              <a:spAutoFit/>
            </a:bodyPr>
            <a:lstStyle/>
            <a:p>
              <a:pPr algn="ctr"/>
              <a:r>
                <a:rPr sz="800" b="1" dirty="0">
                  <a:solidFill>
                    <a:schemeClr val="bg1"/>
                  </a:solidFill>
                  <a:latin typeface="Fira Code"/>
                </a:rPr>
                <a:t>SCAN TO RSVP</a:t>
              </a:r>
            </a:p>
          </p:txBody>
        </p:sp>
      </p:grpSp>
      <p:pic>
        <p:nvPicPr>
          <p:cNvPr id="20" name="Picture 19">
            <a:extLst>
              <a:ext uri="{FF2B5EF4-FFF2-40B4-BE49-F238E27FC236}">
                <a16:creationId xmlns:a16="http://schemas.microsoft.com/office/drawing/2014/main" id="{52D5ED21-B1F9-B133-E731-E9A6C9A9D8DD}"/>
              </a:ext>
            </a:extLst>
          </p:cNvPr>
          <p:cNvPicPr>
            <a:picLocks noChangeAspect="1"/>
          </p:cNvPicPr>
          <p:nvPr/>
        </p:nvPicPr>
        <p:blipFill>
          <a:blip r:embed="rId6"/>
          <a:srcRect/>
          <a:stretch/>
        </p:blipFill>
        <p:spPr>
          <a:xfrm>
            <a:off x="7452360" y="3859457"/>
            <a:ext cx="1371600" cy="1050184"/>
          </a:xfrm>
          <a:prstGeom prst="rect">
            <a:avLst/>
          </a:prstGeom>
        </p:spPr>
      </p:pic>
    </p:spTree>
    <p:extLst>
      <p:ext uri="{BB962C8B-B14F-4D97-AF65-F5344CB8AC3E}">
        <p14:creationId xmlns:p14="http://schemas.microsoft.com/office/powerpoint/2010/main" val="13340176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365760" y="365760"/>
            <a:ext cx="3657600" cy="182880"/>
          </a:xfrm>
          <a:prstGeom prst="rect">
            <a:avLst/>
          </a:prstGeom>
          <a:noFill/>
        </p:spPr>
        <p:txBody>
          <a:bodyPr wrap="square" lIns="0" tIns="0" rIns="0" bIns="0" anchor="t">
            <a:spAutoFit/>
          </a:bodyPr>
          <a:lstStyle/>
          <a:p>
            <a:pPr algn="l"/>
            <a:r>
              <a:rPr sz="900" b="0">
                <a:solidFill>
                  <a:srgbClr val="292929"/>
                </a:solidFill>
                <a:latin typeface="Fira Code"/>
              </a:rPr>
              <a:t>GUIDE</a:t>
            </a:r>
          </a:p>
        </p:txBody>
      </p:sp>
      <p:sp>
        <p:nvSpPr>
          <p:cNvPr id="3" name="TextBox 2"/>
          <p:cNvSpPr txBox="1"/>
          <p:nvPr/>
        </p:nvSpPr>
        <p:spPr>
          <a:xfrm>
            <a:off x="365760" y="777240"/>
            <a:ext cx="8229600" cy="777240"/>
          </a:xfrm>
          <a:prstGeom prst="rect">
            <a:avLst/>
          </a:prstGeom>
          <a:noFill/>
        </p:spPr>
        <p:txBody>
          <a:bodyPr wrap="square" lIns="0" tIns="0" rIns="0" bIns="0" anchor="t">
            <a:spAutoFit/>
          </a:bodyPr>
          <a:lstStyle/>
          <a:p>
            <a:pPr algn="l"/>
            <a:r>
              <a:rPr sz="3200" b="1">
                <a:solidFill>
                  <a:srgbClr val="292929"/>
                </a:solidFill>
                <a:latin typeface="Fira Sans Extra Condensed"/>
              </a:rPr>
              <a:t>How to use this template</a:t>
            </a:r>
          </a:p>
        </p:txBody>
      </p:sp>
      <p:sp>
        <p:nvSpPr>
          <p:cNvPr id="4" name="Rectangle 3"/>
          <p:cNvSpPr/>
          <p:nvPr/>
        </p:nvSpPr>
        <p:spPr>
          <a:xfrm>
            <a:off x="365760" y="1554480"/>
            <a:ext cx="548640" cy="36576"/>
          </a:xfrm>
          <a:prstGeom prst="rect">
            <a:avLst/>
          </a:prstGeom>
          <a:solidFill>
            <a:srgbClr val="F9D8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828800"/>
            <a:ext cx="4572000" cy="228600"/>
          </a:xfrm>
          <a:prstGeom prst="rect">
            <a:avLst/>
          </a:prstGeom>
          <a:noFill/>
        </p:spPr>
        <p:txBody>
          <a:bodyPr wrap="square" lIns="0" tIns="0" rIns="0" bIns="0" anchor="t">
            <a:spAutoFit/>
          </a:bodyPr>
          <a:lstStyle/>
          <a:p>
            <a:pPr algn="l"/>
            <a:r>
              <a:rPr sz="800" b="0">
                <a:solidFill>
                  <a:srgbClr val="292929"/>
                </a:solidFill>
                <a:latin typeface="Fira Code"/>
              </a:rPr>
              <a:t>5 PALETTES — SWAP DOMINANT + ACCENT PER SLIDE</a:t>
            </a:r>
          </a:p>
        </p:txBody>
      </p:sp>
      <p:sp>
        <p:nvSpPr>
          <p:cNvPr id="6" name="Rectangle 5"/>
          <p:cNvSpPr/>
          <p:nvPr/>
        </p:nvSpPr>
        <p:spPr>
          <a:xfrm>
            <a:off x="365760" y="2103120"/>
            <a:ext cx="411480" cy="411480"/>
          </a:xfrm>
          <a:prstGeom prst="rect">
            <a:avLst/>
          </a:prstGeom>
          <a:solidFill>
            <a:srgbClr val="FB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594360" y="2331720"/>
            <a:ext cx="182880" cy="182880"/>
          </a:xfrm>
          <a:prstGeom prst="rect">
            <a:avLst/>
          </a:prstGeom>
          <a:solidFill>
            <a:srgbClr val="F4D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20040" y="2560320"/>
            <a:ext cx="548640" cy="164592"/>
          </a:xfrm>
          <a:prstGeom prst="rect">
            <a:avLst/>
          </a:prstGeom>
          <a:noFill/>
        </p:spPr>
        <p:txBody>
          <a:bodyPr wrap="square" lIns="0" tIns="0" rIns="0" bIns="0" anchor="t">
            <a:spAutoFit/>
          </a:bodyPr>
          <a:lstStyle/>
          <a:p>
            <a:pPr algn="l"/>
            <a:r>
              <a:rPr sz="700" b="0">
                <a:solidFill>
                  <a:srgbClr val="292929"/>
                </a:solidFill>
                <a:latin typeface="Fira Code"/>
              </a:rPr>
              <a:t>MAGENTA</a:t>
            </a:r>
          </a:p>
        </p:txBody>
      </p:sp>
      <p:sp>
        <p:nvSpPr>
          <p:cNvPr id="9" name="Rectangle 8"/>
          <p:cNvSpPr/>
          <p:nvPr/>
        </p:nvSpPr>
        <p:spPr>
          <a:xfrm>
            <a:off x="1280160" y="2103120"/>
            <a:ext cx="411480" cy="411480"/>
          </a:xfrm>
          <a:prstGeom prst="rect">
            <a:avLst/>
          </a:prstGeom>
          <a:solidFill>
            <a:srgbClr val="00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1508760" y="2331720"/>
            <a:ext cx="182880" cy="182880"/>
          </a:xfrm>
          <a:prstGeom prst="rect">
            <a:avLst/>
          </a:prstGeom>
          <a:solidFill>
            <a:srgbClr val="67FA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234440" y="2560320"/>
            <a:ext cx="548640" cy="164592"/>
          </a:xfrm>
          <a:prstGeom prst="rect">
            <a:avLst/>
          </a:prstGeom>
          <a:noFill/>
        </p:spPr>
        <p:txBody>
          <a:bodyPr wrap="square" lIns="0" tIns="0" rIns="0" bIns="0" anchor="t">
            <a:spAutoFit/>
          </a:bodyPr>
          <a:lstStyle/>
          <a:p>
            <a:pPr algn="l"/>
            <a:r>
              <a:rPr sz="700" b="0">
                <a:solidFill>
                  <a:srgbClr val="292929"/>
                </a:solidFill>
                <a:latin typeface="Fira Code"/>
              </a:rPr>
              <a:t>CYAN</a:t>
            </a:r>
          </a:p>
        </p:txBody>
      </p:sp>
      <p:sp>
        <p:nvSpPr>
          <p:cNvPr id="12" name="Rectangle 11"/>
          <p:cNvSpPr/>
          <p:nvPr/>
        </p:nvSpPr>
        <p:spPr>
          <a:xfrm>
            <a:off x="2194560" y="2103120"/>
            <a:ext cx="411480" cy="411480"/>
          </a:xfrm>
          <a:prstGeom prst="rect">
            <a:avLst/>
          </a:prstGeom>
          <a:solidFill>
            <a:srgbClr val="461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2423160" y="2331720"/>
            <a:ext cx="182880" cy="182880"/>
          </a:xfrm>
          <a:prstGeom prst="rect">
            <a:avLst/>
          </a:prstGeom>
          <a:solidFill>
            <a:srgbClr val="F4DC5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2148840" y="2560320"/>
            <a:ext cx="548640" cy="164592"/>
          </a:xfrm>
          <a:prstGeom prst="rect">
            <a:avLst/>
          </a:prstGeom>
          <a:noFill/>
        </p:spPr>
        <p:txBody>
          <a:bodyPr wrap="square" lIns="0" tIns="0" rIns="0" bIns="0" anchor="t">
            <a:spAutoFit/>
          </a:bodyPr>
          <a:lstStyle/>
          <a:p>
            <a:pPr algn="l"/>
            <a:r>
              <a:rPr sz="700" b="0">
                <a:solidFill>
                  <a:srgbClr val="292929"/>
                </a:solidFill>
                <a:latin typeface="Fira Code"/>
              </a:rPr>
              <a:t>VIOLET</a:t>
            </a:r>
          </a:p>
        </p:txBody>
      </p:sp>
      <p:sp>
        <p:nvSpPr>
          <p:cNvPr id="15" name="TextBox 14"/>
          <p:cNvSpPr txBox="1"/>
          <p:nvPr/>
        </p:nvSpPr>
        <p:spPr>
          <a:xfrm>
            <a:off x="365760" y="3200400"/>
            <a:ext cx="4572000" cy="228600"/>
          </a:xfrm>
          <a:prstGeom prst="rect">
            <a:avLst/>
          </a:prstGeom>
          <a:noFill/>
        </p:spPr>
        <p:txBody>
          <a:bodyPr wrap="square" lIns="0" tIns="0" rIns="0" bIns="0" anchor="t">
            <a:spAutoFit/>
          </a:bodyPr>
          <a:lstStyle/>
          <a:p>
            <a:pPr algn="l"/>
            <a:r>
              <a:rPr sz="800" b="0">
                <a:solidFill>
                  <a:srgbClr val="292929"/>
                </a:solidFill>
                <a:latin typeface="Fira Code"/>
              </a:rPr>
              <a:t>TYPOGRAPHY</a:t>
            </a:r>
          </a:p>
        </p:txBody>
      </p:sp>
      <p:sp>
        <p:nvSpPr>
          <p:cNvPr id="16" name="TextBox 15"/>
          <p:cNvSpPr txBox="1"/>
          <p:nvPr/>
        </p:nvSpPr>
        <p:spPr>
          <a:xfrm>
            <a:off x="365760" y="3474720"/>
            <a:ext cx="4572000" cy="457200"/>
          </a:xfrm>
          <a:prstGeom prst="rect">
            <a:avLst/>
          </a:prstGeom>
          <a:noFill/>
        </p:spPr>
        <p:txBody>
          <a:bodyPr wrap="square" lIns="0" tIns="0" rIns="0" bIns="0" anchor="t">
            <a:spAutoFit/>
          </a:bodyPr>
          <a:lstStyle/>
          <a:p>
            <a:pPr algn="l"/>
            <a:r>
              <a:rPr sz="4800" b="1">
                <a:solidFill>
                  <a:srgbClr val="292929"/>
                </a:solidFill>
                <a:latin typeface="Fira Sans Extra Condensed"/>
              </a:rPr>
              <a:t>Aa</a:t>
            </a:r>
          </a:p>
        </p:txBody>
      </p:sp>
      <p:sp>
        <p:nvSpPr>
          <p:cNvPr id="17" name="TextBox 16"/>
          <p:cNvSpPr txBox="1"/>
          <p:nvPr/>
        </p:nvSpPr>
        <p:spPr>
          <a:xfrm>
            <a:off x="1188720" y="3566160"/>
            <a:ext cx="3657600" cy="274320"/>
          </a:xfrm>
          <a:prstGeom prst="rect">
            <a:avLst/>
          </a:prstGeom>
          <a:noFill/>
        </p:spPr>
        <p:txBody>
          <a:bodyPr wrap="square" lIns="0" tIns="0" rIns="0" bIns="0" anchor="t">
            <a:spAutoFit/>
          </a:bodyPr>
          <a:lstStyle/>
          <a:p>
            <a:pPr algn="l"/>
            <a:r>
              <a:rPr sz="1200" b="1">
                <a:solidFill>
                  <a:srgbClr val="292929"/>
                </a:solidFill>
                <a:latin typeface="Fira Sans Extra Condensed"/>
              </a:rPr>
              <a:t>Fira Sans Extra Condensed</a:t>
            </a:r>
          </a:p>
        </p:txBody>
      </p:sp>
      <p:sp>
        <p:nvSpPr>
          <p:cNvPr id="18" name="TextBox 17"/>
          <p:cNvSpPr txBox="1"/>
          <p:nvPr/>
        </p:nvSpPr>
        <p:spPr>
          <a:xfrm>
            <a:off x="1188720" y="3794760"/>
            <a:ext cx="3657600" cy="274320"/>
          </a:xfrm>
          <a:prstGeom prst="rect">
            <a:avLst/>
          </a:prstGeom>
          <a:noFill/>
        </p:spPr>
        <p:txBody>
          <a:bodyPr wrap="square" lIns="0" tIns="0" rIns="0" bIns="0" anchor="t">
            <a:spAutoFit/>
          </a:bodyPr>
          <a:lstStyle/>
          <a:p>
            <a:pPr algn="l"/>
            <a:r>
              <a:rPr sz="1000" b="0">
                <a:solidFill>
                  <a:srgbClr val="292929"/>
                </a:solidFill>
                <a:latin typeface="Fira Sans Extra Condensed"/>
              </a:rPr>
              <a:t>Display + body — all headings, body copy</a:t>
            </a:r>
          </a:p>
        </p:txBody>
      </p:sp>
      <p:sp>
        <p:nvSpPr>
          <p:cNvPr id="19" name="TextBox 18"/>
          <p:cNvSpPr txBox="1"/>
          <p:nvPr/>
        </p:nvSpPr>
        <p:spPr>
          <a:xfrm>
            <a:off x="365760" y="4251960"/>
            <a:ext cx="4572000" cy="457200"/>
          </a:xfrm>
          <a:prstGeom prst="rect">
            <a:avLst/>
          </a:prstGeom>
          <a:noFill/>
        </p:spPr>
        <p:txBody>
          <a:bodyPr wrap="square" lIns="0" tIns="0" rIns="0" bIns="0" anchor="t">
            <a:spAutoFit/>
          </a:bodyPr>
          <a:lstStyle/>
          <a:p>
            <a:pPr algn="l"/>
            <a:r>
              <a:rPr sz="3200" b="1">
                <a:solidFill>
                  <a:srgbClr val="292929"/>
                </a:solidFill>
                <a:latin typeface="Fira Code"/>
              </a:rPr>
              <a:t>Aa</a:t>
            </a:r>
          </a:p>
        </p:txBody>
      </p:sp>
      <p:sp>
        <p:nvSpPr>
          <p:cNvPr id="20" name="TextBox 19"/>
          <p:cNvSpPr txBox="1"/>
          <p:nvPr/>
        </p:nvSpPr>
        <p:spPr>
          <a:xfrm>
            <a:off x="1188720" y="4297680"/>
            <a:ext cx="3657600" cy="274320"/>
          </a:xfrm>
          <a:prstGeom prst="rect">
            <a:avLst/>
          </a:prstGeom>
          <a:noFill/>
        </p:spPr>
        <p:txBody>
          <a:bodyPr wrap="square" lIns="0" tIns="0" rIns="0" bIns="0" anchor="t">
            <a:spAutoFit/>
          </a:bodyPr>
          <a:lstStyle/>
          <a:p>
            <a:pPr algn="l"/>
            <a:r>
              <a:rPr sz="1200" b="1">
                <a:solidFill>
                  <a:srgbClr val="292929"/>
                </a:solidFill>
                <a:latin typeface="Fira Sans Extra Condensed"/>
              </a:rPr>
              <a:t>Fira Code</a:t>
            </a:r>
          </a:p>
        </p:txBody>
      </p:sp>
      <p:sp>
        <p:nvSpPr>
          <p:cNvPr id="21" name="TextBox 20"/>
          <p:cNvSpPr txBox="1"/>
          <p:nvPr/>
        </p:nvSpPr>
        <p:spPr>
          <a:xfrm>
            <a:off x="1188720" y="4526280"/>
            <a:ext cx="3657600" cy="274320"/>
          </a:xfrm>
          <a:prstGeom prst="rect">
            <a:avLst/>
          </a:prstGeom>
          <a:noFill/>
        </p:spPr>
        <p:txBody>
          <a:bodyPr wrap="square" lIns="0" tIns="0" rIns="0" bIns="0" anchor="t">
            <a:spAutoFit/>
          </a:bodyPr>
          <a:lstStyle/>
          <a:p>
            <a:pPr algn="l"/>
            <a:r>
              <a:rPr sz="1000" b="0">
                <a:solidFill>
                  <a:srgbClr val="292929"/>
                </a:solidFill>
                <a:latin typeface="Fira Sans Extra Condensed"/>
              </a:rPr>
              <a:t>Mono — eyebrows, captions, labels</a:t>
            </a:r>
          </a:p>
        </p:txBody>
      </p:sp>
      <p:sp>
        <p:nvSpPr>
          <p:cNvPr id="22" name="TextBox 21"/>
          <p:cNvSpPr txBox="1"/>
          <p:nvPr/>
        </p:nvSpPr>
        <p:spPr>
          <a:xfrm>
            <a:off x="5486400" y="1828800"/>
            <a:ext cx="3657600" cy="228600"/>
          </a:xfrm>
          <a:prstGeom prst="rect">
            <a:avLst/>
          </a:prstGeom>
          <a:noFill/>
        </p:spPr>
        <p:txBody>
          <a:bodyPr wrap="square" lIns="0" tIns="0" rIns="0" bIns="0" anchor="t">
            <a:spAutoFit/>
          </a:bodyPr>
          <a:lstStyle/>
          <a:p>
            <a:pPr algn="l"/>
            <a:r>
              <a:rPr sz="800" b="0">
                <a:solidFill>
                  <a:srgbClr val="292929"/>
                </a:solidFill>
                <a:latin typeface="Fira Code"/>
              </a:rPr>
              <a:t>RULES</a:t>
            </a:r>
          </a:p>
        </p:txBody>
      </p:sp>
      <p:sp>
        <p:nvSpPr>
          <p:cNvPr id="23" name="TextBox 22"/>
          <p:cNvSpPr txBox="1"/>
          <p:nvPr/>
        </p:nvSpPr>
        <p:spPr>
          <a:xfrm>
            <a:off x="5486400" y="2148840"/>
            <a:ext cx="3657600" cy="365760"/>
          </a:xfrm>
          <a:prstGeom prst="rect">
            <a:avLst/>
          </a:prstGeom>
          <a:noFill/>
        </p:spPr>
        <p:txBody>
          <a:bodyPr wrap="square" lIns="0" tIns="0" rIns="0" bIns="0" anchor="t">
            <a:spAutoFit/>
          </a:bodyPr>
          <a:lstStyle/>
          <a:p>
            <a:pPr algn="l"/>
            <a:r>
              <a:rPr sz="1100" b="0">
                <a:solidFill>
                  <a:srgbClr val="292929"/>
                </a:solidFill>
                <a:latin typeface="Fira Sans Extra Condensed"/>
              </a:rPr>
              <a:t>1.  One palette per slide (or section).</a:t>
            </a:r>
          </a:p>
        </p:txBody>
      </p:sp>
      <p:sp>
        <p:nvSpPr>
          <p:cNvPr id="24" name="TextBox 23"/>
          <p:cNvSpPr txBox="1"/>
          <p:nvPr/>
        </p:nvSpPr>
        <p:spPr>
          <a:xfrm>
            <a:off x="5486400" y="2532888"/>
            <a:ext cx="3657600" cy="365760"/>
          </a:xfrm>
          <a:prstGeom prst="rect">
            <a:avLst/>
          </a:prstGeom>
          <a:noFill/>
        </p:spPr>
        <p:txBody>
          <a:bodyPr wrap="square" lIns="0" tIns="0" rIns="0" bIns="0" anchor="t">
            <a:spAutoFit/>
          </a:bodyPr>
          <a:lstStyle/>
          <a:p>
            <a:pPr algn="l"/>
            <a:r>
              <a:rPr sz="1100" b="0">
                <a:solidFill>
                  <a:srgbClr val="292929"/>
                </a:solidFill>
                <a:latin typeface="Fira Sans Extra Condensed"/>
              </a:rPr>
              <a:t>2.  Anchor-dark + anchor-light are constants.</a:t>
            </a:r>
          </a:p>
        </p:txBody>
      </p:sp>
      <p:sp>
        <p:nvSpPr>
          <p:cNvPr id="25" name="TextBox 24"/>
          <p:cNvSpPr txBox="1"/>
          <p:nvPr/>
        </p:nvSpPr>
        <p:spPr>
          <a:xfrm>
            <a:off x="5486400" y="2916936"/>
            <a:ext cx="3657600" cy="365760"/>
          </a:xfrm>
          <a:prstGeom prst="rect">
            <a:avLst/>
          </a:prstGeom>
          <a:noFill/>
        </p:spPr>
        <p:txBody>
          <a:bodyPr wrap="square" lIns="0" tIns="0" rIns="0" bIns="0" anchor="t">
            <a:spAutoFit/>
          </a:bodyPr>
          <a:lstStyle/>
          <a:p>
            <a:pPr algn="l"/>
            <a:r>
              <a:rPr sz="1100" b="0">
                <a:solidFill>
                  <a:srgbClr val="292929"/>
                </a:solidFill>
                <a:latin typeface="Fira Sans Extra Condensed"/>
              </a:rPr>
              <a:t>3.  Accent-primary highlights ONE word/digit, never all.</a:t>
            </a:r>
          </a:p>
        </p:txBody>
      </p:sp>
      <p:sp>
        <p:nvSpPr>
          <p:cNvPr id="26" name="TextBox 25"/>
          <p:cNvSpPr txBox="1"/>
          <p:nvPr/>
        </p:nvSpPr>
        <p:spPr>
          <a:xfrm>
            <a:off x="5486400" y="3300984"/>
            <a:ext cx="3657600" cy="365760"/>
          </a:xfrm>
          <a:prstGeom prst="rect">
            <a:avLst/>
          </a:prstGeom>
          <a:noFill/>
        </p:spPr>
        <p:txBody>
          <a:bodyPr wrap="square" lIns="0" tIns="0" rIns="0" bIns="0" anchor="t">
            <a:spAutoFit/>
          </a:bodyPr>
          <a:lstStyle/>
          <a:p>
            <a:pPr algn="l"/>
            <a:r>
              <a:rPr lang="en-US" sz="1100" b="0" dirty="0">
                <a:solidFill>
                  <a:srgbClr val="292929"/>
                </a:solidFill>
                <a:latin typeface="Fira Sans Extra Condensed"/>
              </a:rPr>
              <a:t>4.  No team-member names anywhere in the deck.</a:t>
            </a:r>
          </a:p>
        </p:txBody>
      </p:sp>
      <p:sp>
        <p:nvSpPr>
          <p:cNvPr id="27" name="TextBox 26"/>
          <p:cNvSpPr txBox="1"/>
          <p:nvPr/>
        </p:nvSpPr>
        <p:spPr>
          <a:xfrm>
            <a:off x="5486400" y="3685032"/>
            <a:ext cx="3657600" cy="365760"/>
          </a:xfrm>
          <a:prstGeom prst="rect">
            <a:avLst/>
          </a:prstGeom>
          <a:noFill/>
        </p:spPr>
        <p:txBody>
          <a:bodyPr wrap="square" lIns="0" tIns="0" rIns="0" bIns="0" anchor="t">
            <a:spAutoFit/>
          </a:bodyPr>
          <a:lstStyle/>
          <a:p>
            <a:pPr algn="l"/>
            <a:r>
              <a:rPr sz="1100" b="0">
                <a:solidFill>
                  <a:srgbClr val="292929"/>
                </a:solidFill>
                <a:latin typeface="Fira Sans Extra Condensed"/>
              </a:rPr>
              <a:t>5.  Speaker notes live in the notes pane, not on slide.</a:t>
            </a:r>
          </a:p>
        </p:txBody>
      </p:sp>
      <p:sp>
        <p:nvSpPr>
          <p:cNvPr id="28" name="TextBox 27"/>
          <p:cNvSpPr txBox="1"/>
          <p:nvPr/>
        </p:nvSpPr>
        <p:spPr>
          <a:xfrm>
            <a:off x="5486400" y="4069080"/>
            <a:ext cx="3657600" cy="365760"/>
          </a:xfrm>
          <a:prstGeom prst="rect">
            <a:avLst/>
          </a:prstGeom>
          <a:noFill/>
        </p:spPr>
        <p:txBody>
          <a:bodyPr wrap="square" lIns="0" tIns="0" rIns="0" bIns="0" anchor="t">
            <a:spAutoFit/>
          </a:bodyPr>
          <a:lstStyle/>
          <a:p>
            <a:pPr algn="l"/>
            <a:r>
              <a:rPr sz="1100" b="0">
                <a:solidFill>
                  <a:srgbClr val="292929"/>
                </a:solidFill>
                <a:latin typeface="Fira Sans Extra Condensed"/>
              </a:rPr>
              <a:t>6.  Lockup always bottom-right.</a:t>
            </a:r>
          </a:p>
        </p:txBody>
      </p:sp>
      <p:sp>
        <p:nvSpPr>
          <p:cNvPr id="29" name="TextBox 28"/>
          <p:cNvSpPr txBox="1"/>
          <p:nvPr/>
        </p:nvSpPr>
        <p:spPr>
          <a:xfrm>
            <a:off x="1188720" y="4023360"/>
            <a:ext cx="1417055" cy="107722"/>
          </a:xfrm>
          <a:prstGeom prst="rect">
            <a:avLst/>
          </a:prstGeom>
          <a:noFill/>
        </p:spPr>
        <p:txBody>
          <a:bodyPr wrap="none" lIns="0" tIns="0" rIns="0" bIns="0">
            <a:spAutoFit/>
          </a:bodyPr>
          <a:lstStyle/>
          <a:p>
            <a:r>
              <a:rPr sz="700" b="0" dirty="0">
                <a:solidFill>
                  <a:srgbClr val="292929"/>
                </a:solidFill>
                <a:latin typeface="Fira Code"/>
                <a:hlinkClick r:id="rId3"/>
              </a:rPr>
              <a:t>↓ DOWNLOAD ON GOOGLE FONTS</a:t>
            </a:r>
          </a:p>
        </p:txBody>
      </p:sp>
      <p:sp>
        <p:nvSpPr>
          <p:cNvPr id="30" name="TextBox 29"/>
          <p:cNvSpPr txBox="1"/>
          <p:nvPr/>
        </p:nvSpPr>
        <p:spPr>
          <a:xfrm>
            <a:off x="1188720" y="4736592"/>
            <a:ext cx="3657600" cy="182880"/>
          </a:xfrm>
          <a:prstGeom prst="rect">
            <a:avLst/>
          </a:prstGeom>
          <a:noFill/>
        </p:spPr>
        <p:txBody>
          <a:bodyPr wrap="none" lIns="0" tIns="0" rIns="0" bIns="0">
            <a:spAutoFit/>
          </a:bodyPr>
          <a:lstStyle/>
          <a:p>
            <a:r>
              <a:rPr sz="700" b="0">
                <a:solidFill>
                  <a:srgbClr val="292929"/>
                </a:solidFill>
                <a:latin typeface="Fira Code"/>
                <a:hlinkClick r:id="rId4"/>
              </a:rPr>
              <a:t>↓ DOWNLOAD ON GOOGLE FONTS</a:t>
            </a:r>
          </a:p>
        </p:txBody>
      </p:sp>
      <p:sp>
        <p:nvSpPr>
          <p:cNvPr id="31" name="Rectangle 30"/>
          <p:cNvSpPr/>
          <p:nvPr/>
        </p:nvSpPr>
        <p:spPr>
          <a:xfrm>
            <a:off x="3108960" y="2103120"/>
            <a:ext cx="411480" cy="411480"/>
          </a:xfrm>
          <a:prstGeom prst="rect">
            <a:avLst/>
          </a:prstGeom>
          <a:solidFill>
            <a:srgbClr val="FF95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3337560" y="2331720"/>
            <a:ext cx="182880" cy="182880"/>
          </a:xfrm>
          <a:prstGeom prst="rect">
            <a:avLst/>
          </a:prstGeom>
          <a:solidFill>
            <a:srgbClr val="BC1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3063240" y="2560320"/>
            <a:ext cx="548640" cy="164592"/>
          </a:xfrm>
          <a:prstGeom prst="rect">
            <a:avLst/>
          </a:prstGeom>
          <a:noFill/>
        </p:spPr>
        <p:txBody>
          <a:bodyPr wrap="square" lIns="0" tIns="0" rIns="0" bIns="0">
            <a:spAutoFit/>
          </a:bodyPr>
          <a:lstStyle/>
          <a:p>
            <a:r>
              <a:rPr sz="600" b="0" spc="100">
                <a:solidFill>
                  <a:srgbClr val="292929"/>
                </a:solidFill>
                <a:latin typeface="Fira Code"/>
              </a:rPr>
              <a:t>AMBER</a:t>
            </a:r>
          </a:p>
        </p:txBody>
      </p:sp>
      <p:sp>
        <p:nvSpPr>
          <p:cNvPr id="34" name="Rectangle 33"/>
          <p:cNvSpPr/>
          <p:nvPr/>
        </p:nvSpPr>
        <p:spPr>
          <a:xfrm>
            <a:off x="4023360" y="2103120"/>
            <a:ext cx="411480" cy="411480"/>
          </a:xfrm>
          <a:prstGeom prst="rect">
            <a:avLst/>
          </a:prstGeom>
          <a:solidFill>
            <a:srgbClr val="1E7A4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4251960" y="2331720"/>
            <a:ext cx="182880" cy="182880"/>
          </a:xfrm>
          <a:prstGeom prst="rect">
            <a:avLst/>
          </a:prstGeom>
          <a:solidFill>
            <a:srgbClr val="75D76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dirty="0"/>
          </a:p>
        </p:txBody>
      </p:sp>
      <p:sp>
        <p:nvSpPr>
          <p:cNvPr id="36" name="TextBox 35"/>
          <p:cNvSpPr txBox="1"/>
          <p:nvPr/>
        </p:nvSpPr>
        <p:spPr>
          <a:xfrm>
            <a:off x="3977640" y="2560320"/>
            <a:ext cx="548640" cy="164592"/>
          </a:xfrm>
          <a:prstGeom prst="rect">
            <a:avLst/>
          </a:prstGeom>
          <a:noFill/>
        </p:spPr>
        <p:txBody>
          <a:bodyPr wrap="square" lIns="0" tIns="0" rIns="0" bIns="0">
            <a:spAutoFit/>
          </a:bodyPr>
          <a:lstStyle/>
          <a:p>
            <a:r>
              <a:rPr sz="600" b="0" spc="100">
                <a:solidFill>
                  <a:srgbClr val="292929"/>
                </a:solidFill>
                <a:latin typeface="Fira Code"/>
              </a:rPr>
              <a:t>FOREST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extBox 1"/>
          <p:cNvSpPr txBox="1"/>
          <p:nvPr/>
        </p:nvSpPr>
        <p:spPr>
          <a:xfrm>
            <a:off x="365760" y="365760"/>
            <a:ext cx="3657600" cy="182880"/>
          </a:xfrm>
          <a:prstGeom prst="rect">
            <a:avLst/>
          </a:prstGeom>
          <a:noFill/>
        </p:spPr>
        <p:txBody>
          <a:bodyPr wrap="square" lIns="0" tIns="0" rIns="0" bIns="0" anchor="t">
            <a:spAutoFit/>
          </a:bodyPr>
          <a:lstStyle/>
          <a:p>
            <a:pPr algn="l"/>
            <a:r>
              <a:rPr sz="900" b="0">
                <a:solidFill>
                  <a:srgbClr val="292929"/>
                </a:solidFill>
                <a:latin typeface="Fira Code"/>
              </a:rPr>
              <a:t>GUIDE — WORKFLOW</a:t>
            </a:r>
          </a:p>
        </p:txBody>
      </p:sp>
      <p:sp>
        <p:nvSpPr>
          <p:cNvPr id="3" name="TextBox 2"/>
          <p:cNvSpPr txBox="1"/>
          <p:nvPr/>
        </p:nvSpPr>
        <p:spPr>
          <a:xfrm>
            <a:off x="365760" y="777240"/>
            <a:ext cx="8229600" cy="777240"/>
          </a:xfrm>
          <a:prstGeom prst="rect">
            <a:avLst/>
          </a:prstGeom>
          <a:noFill/>
        </p:spPr>
        <p:txBody>
          <a:bodyPr wrap="square" lIns="0" tIns="0" rIns="0" bIns="0" anchor="t">
            <a:spAutoFit/>
          </a:bodyPr>
          <a:lstStyle/>
          <a:p>
            <a:pPr algn="l"/>
            <a:r>
              <a:rPr sz="3200" b="1">
                <a:solidFill>
                  <a:srgbClr val="292929"/>
                </a:solidFill>
                <a:latin typeface="Fira Sans Extra Condensed"/>
              </a:rPr>
              <a:t>Build your deck in 4 steps</a:t>
            </a:r>
          </a:p>
        </p:txBody>
      </p:sp>
      <p:sp>
        <p:nvSpPr>
          <p:cNvPr id="4" name="Rectangle 3"/>
          <p:cNvSpPr/>
          <p:nvPr/>
        </p:nvSpPr>
        <p:spPr>
          <a:xfrm>
            <a:off x="365760" y="1554480"/>
            <a:ext cx="548640" cy="36576"/>
          </a:xfrm>
          <a:prstGeom prst="rect">
            <a:avLst/>
          </a:prstGeom>
          <a:solidFill>
            <a:srgbClr val="FADE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365760" y="1874519"/>
            <a:ext cx="914400" cy="1188720"/>
          </a:xfrm>
          <a:prstGeom prst="rect">
            <a:avLst/>
          </a:prstGeom>
          <a:solidFill>
            <a:srgbClr val="FB00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365760" y="2075687"/>
            <a:ext cx="914400" cy="822960"/>
          </a:xfrm>
          <a:prstGeom prst="rect">
            <a:avLst/>
          </a:prstGeom>
          <a:noFill/>
        </p:spPr>
        <p:txBody>
          <a:bodyPr wrap="square" lIns="0" tIns="0" rIns="0" bIns="0" anchor="t">
            <a:spAutoFit/>
          </a:bodyPr>
          <a:lstStyle/>
          <a:p>
            <a:pPr algn="ctr"/>
            <a:r>
              <a:rPr sz="4400" b="1">
                <a:solidFill>
                  <a:srgbClr val="F4DC52"/>
                </a:solidFill>
                <a:latin typeface="Fira Sans Extra Condensed"/>
              </a:rPr>
              <a:t>01</a:t>
            </a:r>
          </a:p>
        </p:txBody>
      </p:sp>
      <p:sp>
        <p:nvSpPr>
          <p:cNvPr id="7" name="Rectangle 6"/>
          <p:cNvSpPr/>
          <p:nvPr/>
        </p:nvSpPr>
        <p:spPr>
          <a:xfrm>
            <a:off x="1280160" y="1874519"/>
            <a:ext cx="3246120" cy="1188720"/>
          </a:xfrm>
          <a:prstGeom prst="rect">
            <a:avLst/>
          </a:prstGeom>
          <a:solidFill>
            <a:srgbClr val="F0F0EB"/>
          </a:solidFill>
          <a:ln>
            <a:solidFill>
              <a:srgbClr val="2929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417320" y="1984247"/>
            <a:ext cx="3063240" cy="274320"/>
          </a:xfrm>
          <a:prstGeom prst="rect">
            <a:avLst/>
          </a:prstGeom>
          <a:noFill/>
        </p:spPr>
        <p:txBody>
          <a:bodyPr wrap="square" lIns="0" tIns="0" rIns="0" bIns="0" anchor="t">
            <a:spAutoFit/>
          </a:bodyPr>
          <a:lstStyle/>
          <a:p>
            <a:pPr algn="l"/>
            <a:r>
              <a:rPr sz="1500" b="1">
                <a:solidFill>
                  <a:srgbClr val="292929"/>
                </a:solidFill>
                <a:latin typeface="Fira Sans Extra Condensed"/>
              </a:rPr>
              <a:t>Duplicate a slide</a:t>
            </a:r>
          </a:p>
        </p:txBody>
      </p:sp>
      <p:sp>
        <p:nvSpPr>
          <p:cNvPr id="9" name="TextBox 8"/>
          <p:cNvSpPr txBox="1"/>
          <p:nvPr/>
        </p:nvSpPr>
        <p:spPr>
          <a:xfrm>
            <a:off x="1417320" y="2285999"/>
            <a:ext cx="3063240" cy="731520"/>
          </a:xfrm>
          <a:prstGeom prst="rect">
            <a:avLst/>
          </a:prstGeom>
          <a:noFill/>
        </p:spPr>
        <p:txBody>
          <a:bodyPr wrap="square" lIns="0" tIns="0" rIns="0" bIns="0" anchor="t">
            <a:spAutoFit/>
          </a:bodyPr>
          <a:lstStyle/>
          <a:p>
            <a:pPr algn="l"/>
            <a:r>
              <a:rPr sz="1000" b="0">
                <a:solidFill>
                  <a:srgbClr val="292929"/>
                </a:solidFill>
                <a:latin typeface="Fira Sans Extra Condensed"/>
              </a:rPr>
              <a:t>Right-click any slide in the left pane → Duplicate Slide. Or press Cmd+D (Mac) / Ctrl+D (Windows).</a:t>
            </a:r>
          </a:p>
        </p:txBody>
      </p:sp>
      <p:sp>
        <p:nvSpPr>
          <p:cNvPr id="10" name="Rectangle 9"/>
          <p:cNvSpPr/>
          <p:nvPr/>
        </p:nvSpPr>
        <p:spPr>
          <a:xfrm>
            <a:off x="4709160" y="1874519"/>
            <a:ext cx="914400" cy="1188720"/>
          </a:xfrm>
          <a:prstGeom prst="rect">
            <a:avLst/>
          </a:prstGeom>
          <a:solidFill>
            <a:srgbClr val="006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709160" y="2075687"/>
            <a:ext cx="914400" cy="822960"/>
          </a:xfrm>
          <a:prstGeom prst="rect">
            <a:avLst/>
          </a:prstGeom>
          <a:noFill/>
        </p:spPr>
        <p:txBody>
          <a:bodyPr wrap="square" lIns="0" tIns="0" rIns="0" bIns="0" anchor="t">
            <a:spAutoFit/>
          </a:bodyPr>
          <a:lstStyle/>
          <a:p>
            <a:pPr algn="ctr"/>
            <a:r>
              <a:rPr sz="4400" b="1">
                <a:solidFill>
                  <a:srgbClr val="67FAE0"/>
                </a:solidFill>
                <a:latin typeface="Fira Sans Extra Condensed"/>
              </a:rPr>
              <a:t>02</a:t>
            </a:r>
          </a:p>
        </p:txBody>
      </p:sp>
      <p:sp>
        <p:nvSpPr>
          <p:cNvPr id="12" name="Rectangle 11"/>
          <p:cNvSpPr/>
          <p:nvPr/>
        </p:nvSpPr>
        <p:spPr>
          <a:xfrm>
            <a:off x="5623560" y="1874519"/>
            <a:ext cx="3246120" cy="1188720"/>
          </a:xfrm>
          <a:prstGeom prst="rect">
            <a:avLst/>
          </a:prstGeom>
          <a:solidFill>
            <a:srgbClr val="F0F0EB"/>
          </a:solidFill>
          <a:ln>
            <a:solidFill>
              <a:srgbClr val="2929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760720" y="1984247"/>
            <a:ext cx="3063240" cy="274320"/>
          </a:xfrm>
          <a:prstGeom prst="rect">
            <a:avLst/>
          </a:prstGeom>
          <a:noFill/>
        </p:spPr>
        <p:txBody>
          <a:bodyPr wrap="square" lIns="0" tIns="0" rIns="0" bIns="0" anchor="t">
            <a:spAutoFit/>
          </a:bodyPr>
          <a:lstStyle/>
          <a:p>
            <a:pPr algn="l"/>
            <a:r>
              <a:rPr sz="1500" b="1">
                <a:solidFill>
                  <a:srgbClr val="292929"/>
                </a:solidFill>
                <a:latin typeface="Fira Sans Extra Condensed"/>
              </a:rPr>
              <a:t>Replace the text</a:t>
            </a:r>
          </a:p>
        </p:txBody>
      </p:sp>
      <p:sp>
        <p:nvSpPr>
          <p:cNvPr id="14" name="TextBox 13"/>
          <p:cNvSpPr txBox="1"/>
          <p:nvPr/>
        </p:nvSpPr>
        <p:spPr>
          <a:xfrm>
            <a:off x="5760720" y="2285999"/>
            <a:ext cx="3063240" cy="731520"/>
          </a:xfrm>
          <a:prstGeom prst="rect">
            <a:avLst/>
          </a:prstGeom>
          <a:noFill/>
        </p:spPr>
        <p:txBody>
          <a:bodyPr wrap="square" lIns="0" tIns="0" rIns="0" bIns="0" anchor="t">
            <a:spAutoFit/>
          </a:bodyPr>
          <a:lstStyle/>
          <a:p>
            <a:pPr algn="l"/>
            <a:r>
              <a:rPr sz="1000" b="0">
                <a:solidFill>
                  <a:srgbClr val="292929"/>
                </a:solidFill>
                <a:latin typeface="Fira Sans Extra Condensed"/>
              </a:rPr>
              <a:t>Click any text to edit. Keep the rhythm: eyebrow → headline → body → caption. Don't change fonts or colors — they're locked.</a:t>
            </a:r>
          </a:p>
        </p:txBody>
      </p:sp>
      <p:sp>
        <p:nvSpPr>
          <p:cNvPr id="15" name="Rectangle 14"/>
          <p:cNvSpPr/>
          <p:nvPr/>
        </p:nvSpPr>
        <p:spPr>
          <a:xfrm>
            <a:off x="365760" y="3200399"/>
            <a:ext cx="914400" cy="1188720"/>
          </a:xfrm>
          <a:prstGeom prst="rect">
            <a:avLst/>
          </a:prstGeom>
          <a:solidFill>
            <a:srgbClr val="4612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65760" y="3401567"/>
            <a:ext cx="914400" cy="822960"/>
          </a:xfrm>
          <a:prstGeom prst="rect">
            <a:avLst/>
          </a:prstGeom>
          <a:noFill/>
        </p:spPr>
        <p:txBody>
          <a:bodyPr wrap="square" lIns="0" tIns="0" rIns="0" bIns="0" anchor="t">
            <a:spAutoFit/>
          </a:bodyPr>
          <a:lstStyle/>
          <a:p>
            <a:pPr algn="ctr"/>
            <a:r>
              <a:rPr sz="4400" b="1">
                <a:solidFill>
                  <a:srgbClr val="F4DC52"/>
                </a:solidFill>
                <a:latin typeface="Fira Sans Extra Condensed"/>
              </a:rPr>
              <a:t>03</a:t>
            </a:r>
          </a:p>
        </p:txBody>
      </p:sp>
      <p:sp>
        <p:nvSpPr>
          <p:cNvPr id="17" name="Rectangle 16"/>
          <p:cNvSpPr/>
          <p:nvPr/>
        </p:nvSpPr>
        <p:spPr>
          <a:xfrm>
            <a:off x="1280160" y="3200399"/>
            <a:ext cx="3246120" cy="1188720"/>
          </a:xfrm>
          <a:prstGeom prst="rect">
            <a:avLst/>
          </a:prstGeom>
          <a:solidFill>
            <a:srgbClr val="F0F0EB"/>
          </a:solidFill>
          <a:ln>
            <a:solidFill>
              <a:srgbClr val="2929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417320" y="3310127"/>
            <a:ext cx="3063240" cy="274320"/>
          </a:xfrm>
          <a:prstGeom prst="rect">
            <a:avLst/>
          </a:prstGeom>
          <a:noFill/>
        </p:spPr>
        <p:txBody>
          <a:bodyPr wrap="square" lIns="0" tIns="0" rIns="0" bIns="0" anchor="t">
            <a:spAutoFit/>
          </a:bodyPr>
          <a:lstStyle/>
          <a:p>
            <a:pPr algn="l"/>
            <a:r>
              <a:rPr sz="1500" b="1">
                <a:solidFill>
                  <a:srgbClr val="292929"/>
                </a:solidFill>
                <a:latin typeface="Fira Sans Extra Condensed"/>
              </a:rPr>
              <a:t>Swap in your image</a:t>
            </a:r>
          </a:p>
        </p:txBody>
      </p:sp>
      <p:sp>
        <p:nvSpPr>
          <p:cNvPr id="19" name="TextBox 18"/>
          <p:cNvSpPr txBox="1"/>
          <p:nvPr/>
        </p:nvSpPr>
        <p:spPr>
          <a:xfrm>
            <a:off x="1417320" y="3611879"/>
            <a:ext cx="3063240" cy="731520"/>
          </a:xfrm>
          <a:prstGeom prst="rect">
            <a:avLst/>
          </a:prstGeom>
          <a:noFill/>
        </p:spPr>
        <p:txBody>
          <a:bodyPr wrap="square" lIns="0" tIns="0" rIns="0" bIns="0" anchor="t">
            <a:spAutoFit/>
          </a:bodyPr>
          <a:lstStyle/>
          <a:p>
            <a:pPr algn="l"/>
            <a:r>
              <a:rPr sz="1000" b="0">
                <a:solidFill>
                  <a:srgbClr val="292929"/>
                </a:solidFill>
                <a:latin typeface="Fira Sans Extra Condensed"/>
              </a:rPr>
              <a:t>Right-click any [placeholder] block → Change Picture. The frame shape stays — your image fills it. Use high-res sources.</a:t>
            </a:r>
          </a:p>
        </p:txBody>
      </p:sp>
      <p:sp>
        <p:nvSpPr>
          <p:cNvPr id="20" name="Rectangle 19"/>
          <p:cNvSpPr/>
          <p:nvPr/>
        </p:nvSpPr>
        <p:spPr>
          <a:xfrm>
            <a:off x="4709160" y="3200399"/>
            <a:ext cx="914400" cy="1188720"/>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709160" y="3401567"/>
            <a:ext cx="914400" cy="677108"/>
          </a:xfrm>
          <a:prstGeom prst="rect">
            <a:avLst/>
          </a:prstGeom>
          <a:noFill/>
        </p:spPr>
        <p:txBody>
          <a:bodyPr wrap="square" lIns="0" tIns="0" rIns="0" bIns="0" anchor="t">
            <a:spAutoFit/>
          </a:bodyPr>
          <a:lstStyle/>
          <a:p>
            <a:pPr algn="ctr"/>
            <a:r>
              <a:rPr sz="4400" b="1" dirty="0">
                <a:solidFill>
                  <a:srgbClr val="FFE8C1"/>
                </a:solidFill>
                <a:latin typeface="Fira Sans Extra Condensed"/>
              </a:rPr>
              <a:t>04</a:t>
            </a:r>
          </a:p>
        </p:txBody>
      </p:sp>
      <p:sp>
        <p:nvSpPr>
          <p:cNvPr id="22" name="Rectangle 21"/>
          <p:cNvSpPr/>
          <p:nvPr/>
        </p:nvSpPr>
        <p:spPr>
          <a:xfrm>
            <a:off x="5623560" y="3200399"/>
            <a:ext cx="3246120" cy="1188720"/>
          </a:xfrm>
          <a:prstGeom prst="rect">
            <a:avLst/>
          </a:prstGeom>
          <a:solidFill>
            <a:srgbClr val="F0F0EB"/>
          </a:solidFill>
          <a:ln>
            <a:solidFill>
              <a:srgbClr val="29292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760720" y="3310127"/>
            <a:ext cx="3063240" cy="274320"/>
          </a:xfrm>
          <a:prstGeom prst="rect">
            <a:avLst/>
          </a:prstGeom>
          <a:noFill/>
        </p:spPr>
        <p:txBody>
          <a:bodyPr wrap="square" lIns="0" tIns="0" rIns="0" bIns="0" anchor="t">
            <a:spAutoFit/>
          </a:bodyPr>
          <a:lstStyle/>
          <a:p>
            <a:pPr algn="l"/>
            <a:r>
              <a:rPr sz="1500" b="1">
                <a:solidFill>
                  <a:srgbClr val="292929"/>
                </a:solidFill>
                <a:latin typeface="Fira Sans Extra Condensed"/>
              </a:rPr>
              <a:t>Save your own file</a:t>
            </a:r>
          </a:p>
        </p:txBody>
      </p:sp>
      <p:sp>
        <p:nvSpPr>
          <p:cNvPr id="24" name="TextBox 23"/>
          <p:cNvSpPr txBox="1"/>
          <p:nvPr/>
        </p:nvSpPr>
        <p:spPr>
          <a:xfrm>
            <a:off x="5760720" y="3611879"/>
            <a:ext cx="3063240" cy="731520"/>
          </a:xfrm>
          <a:prstGeom prst="rect">
            <a:avLst/>
          </a:prstGeom>
          <a:noFill/>
        </p:spPr>
        <p:txBody>
          <a:bodyPr wrap="square" lIns="0" tIns="0" rIns="0" bIns="0" anchor="t">
            <a:spAutoFit/>
          </a:bodyPr>
          <a:lstStyle/>
          <a:p>
            <a:pPr algn="l"/>
            <a:r>
              <a:rPr sz="1000" b="0">
                <a:solidFill>
                  <a:srgbClr val="292929"/>
                </a:solidFill>
                <a:latin typeface="Fira Sans Extra Condensed"/>
              </a:rPr>
              <a:t>File → Save As → name it for your session. Never edit this master template directly. Add your speaker notes in the Notes pane.</a:t>
            </a:r>
          </a:p>
        </p:txBody>
      </p:sp>
      <p:sp>
        <p:nvSpPr>
          <p:cNvPr id="25" name="TextBox 24"/>
          <p:cNvSpPr txBox="1"/>
          <p:nvPr/>
        </p:nvSpPr>
        <p:spPr>
          <a:xfrm>
            <a:off x="365760" y="4749801"/>
            <a:ext cx="8412480" cy="138499"/>
          </a:xfrm>
          <a:prstGeom prst="rect">
            <a:avLst/>
          </a:prstGeom>
          <a:noFill/>
        </p:spPr>
        <p:txBody>
          <a:bodyPr wrap="square" lIns="0" tIns="0" rIns="0" bIns="0" anchor="t">
            <a:spAutoFit/>
          </a:bodyPr>
          <a:lstStyle/>
          <a:p>
            <a:pPr algn="ctr"/>
            <a:r>
              <a:rPr sz="900" b="0" dirty="0">
                <a:solidFill>
                  <a:srgbClr val="292929"/>
                </a:solidFill>
                <a:latin typeface="Fira Code"/>
              </a:rPr>
              <a:t>STUCK?  PING </a:t>
            </a:r>
            <a:r>
              <a:rPr sz="900" b="1" dirty="0">
                <a:solidFill>
                  <a:srgbClr val="292929"/>
                </a:solidFill>
                <a:latin typeface="Fira Code"/>
              </a:rPr>
              <a:t>#PROJECT-AIR-CREATIVE</a:t>
            </a:r>
            <a:r>
              <a:rPr sz="900" b="0" dirty="0">
                <a:solidFill>
                  <a:srgbClr val="292929"/>
                </a:solidFill>
                <a:latin typeface="Fira Code"/>
              </a:rPr>
              <a:t> ON SLACK — OR PICK THE CLOSEST LAYOUT AND ADAPT.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292929"/>
      </a:dk2>
      <a:lt2>
        <a:srgbClr val="F0F0EB"/>
      </a:lt2>
      <a:accent1>
        <a:srgbClr val="FB00FF"/>
      </a:accent1>
      <a:accent2>
        <a:srgbClr val="0062FF"/>
      </a:accent2>
      <a:accent3>
        <a:srgbClr val="46125B"/>
      </a:accent3>
      <a:accent4>
        <a:srgbClr val="FF9500"/>
      </a:accent4>
      <a:accent5>
        <a:srgbClr val="1F7A4D"/>
      </a:accent5>
      <a:accent6>
        <a:srgbClr val="F4DC52"/>
      </a:accent6>
      <a:hlink>
        <a:srgbClr val="0062FF"/>
      </a:hlink>
      <a:folHlink>
        <a:srgbClr val="46125B"/>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Presentation2" id="{7F773E70-0236-EF4F-850D-9DB4150E7A17}" vid="{D93A6581-0B69-694C-AAF7-B71A425E878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183</TotalTime>
  <Words>1800</Words>
  <Application>Microsoft Macintosh PowerPoint</Application>
  <PresentationFormat>On-screen Show (16:9)</PresentationFormat>
  <Paragraphs>213</Paragraphs>
  <Slides>16</Slides>
  <Notes>16</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vt:i4>
      </vt:variant>
    </vt:vector>
  </HeadingPairs>
  <TitlesOfParts>
    <vt:vector size="21" baseType="lpstr">
      <vt:lpstr>Arial</vt:lpstr>
      <vt:lpstr>Calibri</vt:lpstr>
      <vt:lpstr>Fira Code</vt:lpstr>
      <vt:lpstr>Fira Sans Extra Condensed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Lee Payne</dc:creator>
  <cp:keywords/>
  <dc:description>generated using python-pptx</dc:description>
  <cp:lastModifiedBy>Lee Payne</cp:lastModifiedBy>
  <cp:revision>9</cp:revision>
  <dcterms:created xsi:type="dcterms:W3CDTF">2026-05-21T15:10:21Z</dcterms:created>
  <dcterms:modified xsi:type="dcterms:W3CDTF">2026-05-21T20:56:55Z</dcterms:modified>
  <cp:category/>
</cp:coreProperties>
</file>